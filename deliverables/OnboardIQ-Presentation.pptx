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"/>
          </a:xfrm>
          <a:prstGeom prst="rect">
            <a:avLst/>
          </a:prstGeom>
          <a:solidFill>
            <a:srgbClr val="3ED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0685"/>
            <a:ext cx="12188952" cy="7315"/>
          </a:xfrm>
          <a:prstGeom prst="rect">
            <a:avLst/>
          </a:prstGeom>
          <a:solidFill>
            <a:srgbClr val="22C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0" y="-1097280"/>
            <a:ext cx="5029200" cy="5029200"/>
          </a:xfrm>
          <a:prstGeom prst="ellipse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0" y="3200400"/>
            <a:ext cx="3200400" cy="3200400"/>
          </a:xfrm>
          <a:prstGeom prst="ellipse">
            <a:avLst/>
          </a:prstGeom>
          <a:solidFill>
            <a:srgbClr val="16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D58E"/>
                </a:solidFill>
              </a:rPr>
              <a:t>INTERNSHIP PROJECT  ·  AWS SERVERLESS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OnboardIQ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004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22C5BF"/>
                </a:solidFill>
              </a:rPr>
              <a:t>Smart Employee Onboarding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74903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22C5BF"/>
                </a:solidFill>
              </a:rPr>
              <a:t>&amp; Identity 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B8CC"/>
                </a:solidFill>
              </a:rPr>
              <a:t>From offer letter acceptance to Day 1 login — fully automated on AWS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669280"/>
            <a:ext cx="1280160" cy="320040"/>
          </a:xfrm>
          <a:prstGeom prst="rect">
            <a:avLst/>
          </a:prstGeom>
          <a:solidFill>
            <a:srgbClr val="3ED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56692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0F14"/>
                </a:solidFill>
              </a:rPr>
              <a:t>React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0240" y="5669280"/>
            <a:ext cx="1280160" cy="320040"/>
          </a:xfrm>
          <a:prstGeom prst="rect">
            <a:avLst/>
          </a:prstGeom>
          <a:solidFill>
            <a:srgbClr val="22C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56692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0F14"/>
                </a:solidFill>
              </a:rPr>
              <a:t>AWS Lambda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5669280"/>
            <a:ext cx="1280160" cy="3200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56692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0F14"/>
                </a:solidFill>
              </a:rPr>
              <a:t>Step Functions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5669280"/>
            <a:ext cx="1280160" cy="320040"/>
          </a:xfrm>
          <a:prstGeom prst="rect">
            <a:avLst/>
          </a:prstGeom>
          <a:solidFill>
            <a:srgbClr val="3ED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56692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0F14"/>
                </a:solidFill>
              </a:rPr>
              <a:t>DynamoDB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5669280"/>
            <a:ext cx="1280160" cy="320040"/>
          </a:xfrm>
          <a:prstGeom prst="rect">
            <a:avLst/>
          </a:prstGeom>
          <a:solidFill>
            <a:srgbClr val="22C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56692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0F14"/>
                </a:solidFill>
              </a:rPr>
              <a:t>Cognito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F5C518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The Old Way is Broken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CC"/>
                </a:solidFill>
              </a:rPr>
              <a:t>Traditional onboarding wastes time, loses documents, and leaves new hires confused.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11430000" cy="12700"/>
          </a:xfrm>
          <a:prstGeom prst="rect">
            <a:avLst/>
          </a:prstGeom>
          <a:solidFill>
            <a:srgbClr val="4A5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5C5C"/>
                </a:solidFill>
              </a:rPr>
              <a:t>❌  Before OnboardIQ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417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ED58E"/>
                </a:solidFill>
              </a:rPr>
              <a:t>✅  With OnboardIQ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371600"/>
            <a:ext cx="19050" cy="5029200"/>
          </a:xfrm>
          <a:prstGeom prst="rect">
            <a:avLst/>
          </a:prstGeom>
          <a:solidFill>
            <a:srgbClr val="4A5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920240"/>
            <a:ext cx="5212080" cy="530352"/>
          </a:xfrm>
          <a:prstGeom prst="rect">
            <a:avLst/>
          </a:prstGeom>
          <a:solidFill>
            <a:srgbClr val="1F1010"/>
          </a:solidFill>
          <a:ln w="1270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AAAA"/>
                </a:solidFill>
              </a:rPr>
              <a:t>HR manually emails every new hire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920240"/>
            <a:ext cx="5212080" cy="530352"/>
          </a:xfrm>
          <a:prstGeom prst="rect">
            <a:avLst/>
          </a:prstGeom>
          <a:solidFill>
            <a:srgbClr val="0F1F16"/>
          </a:solidFill>
          <a:ln w="12700">
            <a:solidFill>
              <a:srgbClr val="3ED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AFFCC"/>
                </a:solidFill>
              </a:rPr>
              <a:t>Automated emails triggered by workflow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578608"/>
            <a:ext cx="5212080" cy="530352"/>
          </a:xfrm>
          <a:prstGeom prst="rect">
            <a:avLst/>
          </a:prstGeom>
          <a:solidFill>
            <a:srgbClr val="1F1010"/>
          </a:solidFill>
          <a:ln w="1270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67004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AAAA"/>
                </a:solidFill>
              </a:rPr>
              <a:t>Documents collected over WhatsApp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578608"/>
            <a:ext cx="5212080" cy="530352"/>
          </a:xfrm>
          <a:prstGeom prst="rect">
            <a:avLst/>
          </a:prstGeom>
          <a:solidFill>
            <a:srgbClr val="0F1F16"/>
          </a:solidFill>
          <a:ln w="12700">
            <a:solidFill>
              <a:srgbClr val="3ED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67004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AFFCC"/>
                </a:solidFill>
              </a:rPr>
              <a:t>Secure encrypted S3 upload portal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36976"/>
            <a:ext cx="5212080" cy="530352"/>
          </a:xfrm>
          <a:prstGeom prst="rect">
            <a:avLst/>
          </a:prstGeom>
          <a:solidFill>
            <a:srgbClr val="1F1010"/>
          </a:solidFill>
          <a:ln w="1270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32841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AAAA"/>
                </a:solidFill>
              </a:rPr>
              <a:t>No visibility into who completed what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236976"/>
            <a:ext cx="5212080" cy="530352"/>
          </a:xfrm>
          <a:prstGeom prst="rect">
            <a:avLst/>
          </a:prstGeom>
          <a:solidFill>
            <a:srgbClr val="0F1F16"/>
          </a:solidFill>
          <a:ln w="12700">
            <a:solidFill>
              <a:srgbClr val="3ED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32841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AFFCC"/>
                </a:solidFill>
              </a:rPr>
              <a:t>Real-time HR dashboard with stage tracking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895344"/>
            <a:ext cx="5212080" cy="530352"/>
          </a:xfrm>
          <a:prstGeom prst="rect">
            <a:avLst/>
          </a:prstGeom>
          <a:solidFill>
            <a:srgbClr val="1F1010"/>
          </a:solidFill>
          <a:ln w="1270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98678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AAAA"/>
                </a:solidFill>
              </a:rPr>
              <a:t>IT provisions accounts days late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895344"/>
            <a:ext cx="5212080" cy="530352"/>
          </a:xfrm>
          <a:prstGeom prst="rect">
            <a:avLst/>
          </a:prstGeom>
          <a:solidFill>
            <a:srgbClr val="0F1F16"/>
          </a:solidFill>
          <a:ln w="12700">
            <a:solidFill>
              <a:srgbClr val="3ED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398678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AFFCC"/>
                </a:solidFill>
              </a:rPr>
              <a:t>Cognito account created automatically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553712"/>
            <a:ext cx="5212080" cy="530352"/>
          </a:xfrm>
          <a:prstGeom prst="rect">
            <a:avLst/>
          </a:prstGeom>
          <a:solidFill>
            <a:srgbClr val="1F1010"/>
          </a:solidFill>
          <a:ln w="1270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6451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AAAA"/>
                </a:solidFill>
              </a:rPr>
              <a:t>Managers forget to greet new hires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553712"/>
            <a:ext cx="5212080" cy="530352"/>
          </a:xfrm>
          <a:prstGeom prst="rect">
            <a:avLst/>
          </a:prstGeom>
          <a:solidFill>
            <a:srgbClr val="0F1F16"/>
          </a:solidFill>
          <a:ln w="12700">
            <a:solidFill>
              <a:srgbClr val="3ED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46451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AFFCC"/>
                </a:solidFill>
              </a:rPr>
              <a:t>Auto introduction email on joining date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212080"/>
            <a:ext cx="5212080" cy="530352"/>
          </a:xfrm>
          <a:prstGeom prst="rect">
            <a:avLst/>
          </a:prstGeom>
          <a:solidFill>
            <a:srgbClr val="1F1010"/>
          </a:solidFill>
          <a:ln w="1270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303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AAAA"/>
                </a:solidFill>
              </a:rPr>
              <a:t>No audit trail or compliance record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5212080"/>
            <a:ext cx="5212080" cy="530352"/>
          </a:xfrm>
          <a:prstGeom prst="rect">
            <a:avLst/>
          </a:prstGeom>
          <a:solidFill>
            <a:srgbClr val="0F1F16"/>
          </a:solidFill>
          <a:ln w="12700">
            <a:solidFill>
              <a:srgbClr val="3ED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5303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AFFCC"/>
                </a:solidFill>
              </a:rPr>
              <a:t>Every action logged with timestamps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22C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22C5BF"/>
                </a:solidFill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 OnboardIQ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CC"/>
                </a:solidFill>
              </a:rPr>
              <a:t>Two audiences. One platform. Fully automated.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11430000" cy="12700"/>
          </a:xfrm>
          <a:prstGeom prst="rect">
            <a:avLst/>
          </a:prstGeom>
          <a:solidFill>
            <a:srgbClr val="4A5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C5BF"/>
                </a:solidFill>
              </a:rPr>
              <a:t>👤  New Hire Portal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411480" cy="411480"/>
          </a:xfrm>
          <a:prstGeom prst="rect">
            <a:avLst/>
          </a:prstGeom>
          <a:solidFill>
            <a:srgbClr val="22C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0F14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96596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Fill in your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12848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</a:rPr>
              <a:t>Name, role, department, joining date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807208"/>
            <a:ext cx="411480" cy="411480"/>
          </a:xfrm>
          <a:prstGeom prst="rect">
            <a:avLst/>
          </a:prstGeom>
          <a:solidFill>
            <a:srgbClr val="22C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07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0F14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80720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Upload 3 documents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054096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</a:rPr>
              <a:t>ID proof · Degree cert · Offer letter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48456"/>
            <a:ext cx="411480" cy="411480"/>
          </a:xfrm>
          <a:prstGeom prst="rect">
            <a:avLst/>
          </a:prstGeom>
          <a:solidFill>
            <a:srgbClr val="22C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64845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0F14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648456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Sign 5 policies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895344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</a:rPr>
              <a:t>Progress bar fills as each is checked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489704"/>
            <a:ext cx="411480" cy="411480"/>
          </a:xfrm>
          <a:prstGeom prst="rect">
            <a:avLst/>
          </a:prstGeom>
          <a:solidFill>
            <a:srgbClr val="22C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48970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0F14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489704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Meet your manager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736592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</a:rPr>
              <a:t>Optional intro note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330952"/>
            <a:ext cx="411480" cy="411480"/>
          </a:xfrm>
          <a:prstGeom prst="rect">
            <a:avLst/>
          </a:prstGeom>
          <a:solidFill>
            <a:srgbClr val="22C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3309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0F14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33095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Done!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577840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</a:rPr>
              <a:t>Credentials arrive in your inbox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1463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ED58E"/>
                </a:solidFill>
              </a:rPr>
              <a:t>⚙️  AWS Does Automatically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19659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D58E"/>
                </a:solidFill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1965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8CC"/>
                </a:solidFill>
              </a:rPr>
              <a:t>Employee record created in DynamoDB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5146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D58E"/>
                </a:solidFill>
              </a:rP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2514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8CC"/>
                </a:solidFill>
              </a:rPr>
              <a:t>Step Functions workflow starts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0632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D58E"/>
                </a:solidFill>
              </a:rPr>
              <a:t>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3063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8CC"/>
                </a:solidFill>
              </a:rPr>
              <a:t>S3 event validates each document upload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6118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D58E"/>
                </a:solidFill>
              </a:rPr>
              <a:t>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3611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8CC"/>
                </a:solidFill>
              </a:rPr>
              <a:t>Cognito account provisioned &amp; credentials emailed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1605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D58E"/>
                </a:solidFill>
              </a:rPr>
              <a:t>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4160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8CC"/>
                </a:solidFill>
              </a:rPr>
              <a:t>Policy sign-off timestamped in DynamoDB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7091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D58E"/>
                </a:solidFill>
              </a:rPr>
              <a:t>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4709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8CC"/>
                </a:solidFill>
              </a:rPr>
              <a:t>Manager introduction emails sent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52578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5257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8CC"/>
                </a:solidFill>
              </a:rPr>
              <a:t>Employee status → ACTIVE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58064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5806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8CC"/>
                </a:solidFill>
              </a:rPr>
              <a:t>HR dashboard updates in real time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1371600"/>
            <a:ext cx="19050" cy="5303520"/>
          </a:xfrm>
          <a:prstGeom prst="rect">
            <a:avLst/>
          </a:prstGeom>
          <a:solidFill>
            <a:srgbClr val="4A5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3ED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3ED58E"/>
                </a:solidFill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12700"/>
          </a:xfrm>
          <a:prstGeom prst="rect">
            <a:avLst/>
          </a:prstGeom>
          <a:solidFill>
            <a:srgbClr val="4A5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11247120" cy="960120"/>
          </a:xfrm>
          <a:prstGeom prst="rect">
            <a:avLst/>
          </a:prstGeom>
          <a:solidFill>
            <a:srgbClr val="12252E"/>
          </a:solidFill>
          <a:ln w="19050">
            <a:solidFill>
              <a:srgbClr val="22C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BF"/>
                </a:solidFill>
              </a:rPr>
              <a:t>FRONTEND  ·  React + Vite hosted on S3 Static Website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76272"/>
            <a:ext cx="11247120" cy="502920"/>
          </a:xfrm>
          <a:prstGeom prst="rect">
            <a:avLst/>
          </a:prstGeom>
          <a:solidFill>
            <a:srgbClr val="122A1E"/>
          </a:solidFill>
          <a:ln w="19050">
            <a:solidFill>
              <a:srgbClr val="3ED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2677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D58E"/>
                </a:solidFill>
              </a:rPr>
              <a:t>API GATEWAY  ·  REST API  ·  CORS enabled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88920"/>
            <a:ext cx="11247120" cy="502920"/>
          </a:xfrm>
          <a:prstGeom prst="rect">
            <a:avLst/>
          </a:prstGeom>
          <a:solidFill>
            <a:srgbClr val="182010"/>
          </a:solidFill>
          <a:ln w="190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880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AWS LAMBDA  ·  9 serverless functions  ·  Node.js 20  ·  ARM64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01568"/>
            <a:ext cx="11247120" cy="502920"/>
          </a:xfrm>
          <a:prstGeom prst="rect">
            <a:avLst/>
          </a:prstGeom>
          <a:solidFill>
            <a:srgbClr val="1A1428"/>
          </a:solidFill>
          <a:ln w="19050">
            <a:solidFill>
              <a:srgbClr val="A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4930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78FF"/>
                </a:solidFill>
              </a:rPr>
              <a:t>STEP FUNCTIONS  ·  4-stage orchestration state machine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23360"/>
            <a:ext cx="2194560" cy="777240"/>
          </a:xfrm>
          <a:prstGeom prst="rect">
            <a:avLst/>
          </a:prstGeom>
          <a:solidFill>
            <a:srgbClr val="0A1E3A"/>
          </a:solidFill>
          <a:ln w="15240">
            <a:solidFill>
              <a:srgbClr val="22C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41648"/>
            <a:ext cx="2011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C5BF"/>
                </a:solidFill>
              </a:rPr>
              <a:t>DynamoDB
4 Tables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4023360"/>
            <a:ext cx="2194560" cy="777240"/>
          </a:xfrm>
          <a:prstGeom prst="rect">
            <a:avLst/>
          </a:prstGeom>
          <a:solidFill>
            <a:srgbClr val="1A1A0A"/>
          </a:solidFill>
          <a:ln w="1524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4041648"/>
            <a:ext cx="2011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C518"/>
                </a:solidFill>
              </a:rPr>
              <a:t>S3 Bucket
Encrypted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94960" y="4023360"/>
            <a:ext cx="2194560" cy="777240"/>
          </a:xfrm>
          <a:prstGeom prst="rect">
            <a:avLst/>
          </a:prstGeom>
          <a:solidFill>
            <a:srgbClr val="1A0A2A"/>
          </a:solidFill>
          <a:ln w="15240">
            <a:solidFill>
              <a:srgbClr val="C0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4041648"/>
            <a:ext cx="2011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80FF"/>
                </a:solidFill>
              </a:rPr>
              <a:t>Cognito
User Pool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4023360"/>
            <a:ext cx="2194560" cy="777240"/>
          </a:xfrm>
          <a:prstGeom prst="rect">
            <a:avLst/>
          </a:prstGeom>
          <a:solidFill>
            <a:srgbClr val="0A1E18"/>
          </a:solidFill>
          <a:ln w="15240">
            <a:solidFill>
              <a:srgbClr val="3ED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0" y="4041648"/>
            <a:ext cx="2011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ED58E"/>
                </a:solidFill>
              </a:rPr>
              <a:t>SES
Email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84080" y="4023360"/>
            <a:ext cx="2194560" cy="777240"/>
          </a:xfrm>
          <a:prstGeom prst="rect">
            <a:avLst/>
          </a:prstGeom>
          <a:solidFill>
            <a:srgbClr val="201208"/>
          </a:solidFill>
          <a:ln w="15240">
            <a:solidFill>
              <a:srgbClr val="FF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0" y="4041648"/>
            <a:ext cx="2011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8844"/>
                </a:solidFill>
              </a:rPr>
              <a:t>SNS
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91363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5268"/>
                </a:solidFill>
              </a:rPr>
              <a:t>DATA LAYER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2057400"/>
            <a:ext cx="13716" cy="118872"/>
          </a:xfrm>
          <a:prstGeom prst="rect">
            <a:avLst/>
          </a:prstGeom>
          <a:solidFill>
            <a:srgbClr val="4A5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60720" y="2679192"/>
            <a:ext cx="13716" cy="118872"/>
          </a:xfrm>
          <a:prstGeom prst="rect">
            <a:avLst/>
          </a:prstGeom>
          <a:solidFill>
            <a:srgbClr val="4A5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60720" y="3291840"/>
            <a:ext cx="13716" cy="118872"/>
          </a:xfrm>
          <a:prstGeom prst="rect">
            <a:avLst/>
          </a:prstGeom>
          <a:solidFill>
            <a:srgbClr val="4A5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60720" y="3904487"/>
            <a:ext cx="13716" cy="118872"/>
          </a:xfrm>
          <a:prstGeom prst="rect">
            <a:avLst/>
          </a:prstGeom>
          <a:solidFill>
            <a:srgbClr val="4A5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9834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A5268"/>
                </a:solidFill>
              </a:rPr>
              <a:t>Infrastructure as Code: AWS SAM + CloudFormation  ·  Stack: hrms-onboarding-stack  ·  Region: ap-south-1 (Mumbai)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F5C518"/>
                </a:solidFill>
              </a:rPr>
              <a:t>AWS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AWS Services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CC"/>
                </a:solidFill>
              </a:rPr>
              <a:t>9 managed services — zero servers to maintain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11430000" cy="12700"/>
          </a:xfrm>
          <a:prstGeom prst="rect">
            <a:avLst/>
          </a:prstGeom>
          <a:solidFill>
            <a:srgbClr val="4A5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3474720" cy="1417320"/>
          </a:xfrm>
          <a:prstGeom prst="rect">
            <a:avLst/>
          </a:prstGeom>
          <a:solidFill>
            <a:srgbClr val="161A24"/>
          </a:solidFill>
          <a:ln w="127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</a:rPr>
              <a:t>⚡  AWS Lambda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8CC"/>
                </a:solidFill>
              </a:rPr>
              <a:t>9 serverless functions, Node.js 20, ARM64, 256MB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417320"/>
            <a:ext cx="3474720" cy="1417320"/>
          </a:xfrm>
          <a:prstGeom prst="rect">
            <a:avLst/>
          </a:prstGeom>
          <a:solidFill>
            <a:srgbClr val="161A24"/>
          </a:solidFill>
          <a:ln w="12700">
            <a:solidFill>
              <a:srgbClr val="A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508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078FF"/>
                </a:solidFill>
              </a:rPr>
              <a:t>🔀  Step Functions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92024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8CC"/>
                </a:solidFill>
              </a:rPr>
              <a:t>4-stage state machine: documents → IT → policy → intro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1417320"/>
            <a:ext cx="3474720" cy="1417320"/>
          </a:xfrm>
          <a:prstGeom prst="rect">
            <a:avLst/>
          </a:prstGeom>
          <a:solidFill>
            <a:srgbClr val="161A24"/>
          </a:solidFill>
          <a:ln w="12700">
            <a:solidFill>
              <a:srgbClr val="22C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508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C5BF"/>
                </a:solidFill>
              </a:rPr>
              <a:t>🗄️  DynamoDB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192024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8CC"/>
                </a:solidFill>
              </a:rPr>
              <a:t>4 tables, 3 GSIs, millisecond reads, pay-per-request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990088"/>
            <a:ext cx="3474720" cy="1417320"/>
          </a:xfrm>
          <a:prstGeom prst="rect">
            <a:avLst/>
          </a:prstGeom>
          <a:solidFill>
            <a:srgbClr val="161A24"/>
          </a:solidFill>
          <a:ln w="12700">
            <a:solidFill>
              <a:srgbClr val="3ED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0815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D58E"/>
                </a:solidFill>
              </a:rPr>
              <a:t>🪣  S3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493008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8CC"/>
                </a:solidFill>
              </a:rPr>
              <a:t>Document storage (AES-256 encrypted) + static hosting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2990088"/>
            <a:ext cx="3474720" cy="1417320"/>
          </a:xfrm>
          <a:prstGeom prst="rect">
            <a:avLst/>
          </a:prstGeom>
          <a:solidFill>
            <a:srgbClr val="161A24"/>
          </a:solidFill>
          <a:ln w="12700">
            <a:solidFill>
              <a:srgbClr val="FF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30815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8844"/>
                </a:solidFill>
              </a:rPr>
              <a:t>🔐  Cognito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493008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8CC"/>
                </a:solidFill>
              </a:rPr>
              <a:t>User pool — auto-provisions accounts with temp passwords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09560" y="2990088"/>
            <a:ext cx="3474720" cy="1417320"/>
          </a:xfrm>
          <a:prstGeom prst="rect">
            <a:avLst/>
          </a:prstGeom>
          <a:solidFill>
            <a:srgbClr val="161A24"/>
          </a:solidFill>
          <a:ln w="12700">
            <a:solidFill>
              <a:srgbClr val="3ED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30815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D58E"/>
                </a:solidFill>
              </a:rPr>
              <a:t>📧  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493008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8CC"/>
                </a:solidFill>
              </a:rPr>
              <a:t>Transactional emails: welcome, reminders, introductions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562856"/>
            <a:ext cx="3474720" cy="1417320"/>
          </a:xfrm>
          <a:prstGeom prst="rect">
            <a:avLst/>
          </a:prstGeom>
          <a:solidFill>
            <a:srgbClr val="161A24"/>
          </a:solidFill>
          <a:ln w="12700">
            <a:solidFill>
              <a:srgbClr val="FF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65429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666"/>
                </a:solidFill>
              </a:rPr>
              <a:t>📢  SNS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065776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8CC"/>
                </a:solidFill>
              </a:rPr>
              <a:t>HR team instant alerts when documents are received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4562856"/>
            <a:ext cx="3474720" cy="1417320"/>
          </a:xfrm>
          <a:prstGeom prst="rect">
            <a:avLst/>
          </a:prstGeom>
          <a:solidFill>
            <a:srgbClr val="161A24"/>
          </a:solidFill>
          <a:ln w="12700">
            <a:solidFill>
              <a:srgbClr val="22C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465429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C5BF"/>
                </a:solidFill>
              </a:rPr>
              <a:t>🌐  API Gateway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5065776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8CC"/>
                </a:solidFill>
              </a:rPr>
              <a:t>REST API — routes all frontend requests to Lambda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09560" y="4562856"/>
            <a:ext cx="3474720" cy="1417320"/>
          </a:xfrm>
          <a:prstGeom prst="rect">
            <a:avLst/>
          </a:prstGeom>
          <a:solidFill>
            <a:srgbClr val="161A24"/>
          </a:solidFill>
          <a:ln w="12700">
            <a:solidFill>
              <a:srgbClr val="B0B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0" y="465429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0B8CC"/>
                </a:solidFill>
              </a:rPr>
              <a:t>🏗️  SAM + CloudFormation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5065776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8CC"/>
                </a:solidFill>
              </a:rPr>
              <a:t>Entire infra defined as code, deployed with one command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22C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22C5BF"/>
                </a:solidFill>
              </a:rPr>
              <a:t>DATABASE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Database Schema — ER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CC"/>
                </a:solidFill>
              </a:rPr>
              <a:t>Amazon DynamoDB · 4 tables · 3 GSIs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12700"/>
          </a:xfrm>
          <a:prstGeom prst="rect">
            <a:avLst/>
          </a:prstGeom>
          <a:solidFill>
            <a:srgbClr val="4A5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743200" cy="411480"/>
          </a:xfrm>
          <a:prstGeom prst="rect">
            <a:avLst/>
          </a:prstGeom>
          <a:solidFill>
            <a:srgbClr val="22C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40817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0F14"/>
                </a:solidFill>
              </a:rPr>
              <a:t>EMPLOYEES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2743200" cy="3703320"/>
          </a:xfrm>
          <a:prstGeom prst="rect">
            <a:avLst/>
          </a:prstGeom>
          <a:solidFill>
            <a:srgbClr val="161A24"/>
          </a:solidFill>
          <a:ln w="15240">
            <a:solidFill>
              <a:srgbClr val="22C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2743200" cy="292608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0136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</a:rPr>
              <a:t>🔑  employee_id  PK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07568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C"/>
                </a:solidFill>
              </a:rPr>
              <a:t>  first_name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3682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C"/>
                </a:solidFill>
              </a:rPr>
              <a:t>  last_name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66090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C"/>
                </a:solidFill>
              </a:rPr>
              <a:t>  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9535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C"/>
                </a:solidFill>
              </a:rPr>
              <a:t>  phone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246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C"/>
                </a:solidFill>
              </a:rPr>
              <a:t>  department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53872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C"/>
                </a:solidFill>
              </a:rPr>
              <a:t>  role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83133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C"/>
                </a:solidFill>
              </a:rPr>
              <a:t>  employment_type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1239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C"/>
                </a:solidFill>
              </a:rPr>
              <a:t>  joining_date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165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C5BF"/>
                </a:solidFill>
              </a:rPr>
              <a:t>  manager_id  FK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7091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C"/>
                </a:solidFill>
              </a:rPr>
              <a:t>  cognito_user_id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00176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C"/>
                </a:solidFill>
              </a:rPr>
              <a:t>  status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1371600"/>
            <a:ext cx="2926080" cy="411480"/>
          </a:xfrm>
          <a:prstGeom prst="rect">
            <a:avLst/>
          </a:prstGeom>
          <a:solidFill>
            <a:srgbClr val="3ED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13632" y="140817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0F14"/>
                </a:solidFill>
              </a:rPr>
              <a:t>ONBOARDING_WORKFLOWS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1783080"/>
            <a:ext cx="2926080" cy="2514600"/>
          </a:xfrm>
          <a:prstGeom prst="rect">
            <a:avLst/>
          </a:prstGeom>
          <a:solidFill>
            <a:srgbClr val="161A24"/>
          </a:solidFill>
          <a:ln w="15240">
            <a:solidFill>
              <a:srgbClr val="3ED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40480" y="1783080"/>
            <a:ext cx="2926080" cy="292608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31920" y="1801368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</a:rPr>
              <a:t>🔑  workflow_id  PK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207568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C5BF"/>
                </a:solidFill>
              </a:rPr>
              <a:t>  employee_id  FK+GSI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36829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C"/>
                </a:solidFill>
              </a:rPr>
              <a:t>  execution_arn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266090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C"/>
                </a:solidFill>
              </a:rPr>
              <a:t>  current_stage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295351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C"/>
                </a:solidFill>
              </a:rPr>
              <a:t>  overall_status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200" y="32461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C"/>
                </a:solidFill>
              </a:rPr>
              <a:t>  reminder_attempt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86200" y="353872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C"/>
                </a:solidFill>
              </a:rPr>
              <a:t>  started_at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0" y="4617720"/>
            <a:ext cx="2926080" cy="4114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13632" y="465429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0F14"/>
                </a:solidFill>
              </a:rPr>
              <a:t>ONBOARDING_STAGES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0" y="5029200"/>
            <a:ext cx="2926080" cy="1600200"/>
          </a:xfrm>
          <a:prstGeom prst="rect">
            <a:avLst/>
          </a:prstGeom>
          <a:solidFill>
            <a:srgbClr val="161A24"/>
          </a:solidFill>
          <a:ln w="1524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40480" y="5029200"/>
            <a:ext cx="2926080" cy="292608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31920" y="5047488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</a:rPr>
              <a:t>🔑  stage_id  PK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86200" y="532180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C5BF"/>
                </a:solidFill>
              </a:rPr>
              <a:t>  workflow_id  FK+GSI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6200" y="561441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C"/>
                </a:solidFill>
              </a:rPr>
              <a:t>  stage_name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86200" y="590702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C"/>
                </a:solidFill>
              </a:rPr>
              <a:t>  status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86200" y="61996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C"/>
                </a:solidFill>
              </a:rPr>
              <a:t>  signed_at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86200" y="64922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C"/>
                </a:solidFill>
              </a:rPr>
              <a:t>  completed_at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0" y="1371600"/>
            <a:ext cx="3017520" cy="411480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88352" y="140817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0F14"/>
                </a:solidFill>
              </a:rPr>
              <a:t>DOCUMENTS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0" y="1783080"/>
            <a:ext cx="3017520" cy="3063240"/>
          </a:xfrm>
          <a:prstGeom prst="rect">
            <a:avLst/>
          </a:prstGeom>
          <a:solidFill>
            <a:srgbClr val="161A24"/>
          </a:solidFill>
          <a:ln w="15240">
            <a:solidFill>
              <a:srgbClr val="A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15200" y="1783080"/>
            <a:ext cx="3017520" cy="292608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06640" y="1801368"/>
            <a:ext cx="2880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</a:rPr>
              <a:t>🔑  document_id  PK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920" y="207568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C5BF"/>
                </a:solidFill>
              </a:rPr>
              <a:t>  employee_id  FK+GSI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60920" y="236829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C"/>
                </a:solidFill>
              </a:rPr>
              <a:t>  doc_type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60920" y="266090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C"/>
                </a:solidFill>
              </a:rPr>
              <a:t>  status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60920" y="29535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C"/>
                </a:solidFill>
              </a:rPr>
              <a:t>  s3_key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0920" y="3246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C"/>
                </a:solidFill>
              </a:rPr>
              <a:t>  content_type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60920" y="353872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C"/>
                </a:solidFill>
              </a:rPr>
              <a:t>  verified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60920" y="383133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C"/>
                </a:solidFill>
              </a:rPr>
              <a:t>  validation_errors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60920" y="41239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C"/>
                </a:solidFill>
              </a:rPr>
              <a:t>  uploaded_at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18688" y="2651760"/>
            <a:ext cx="594360" cy="228600"/>
          </a:xfrm>
          <a:prstGeom prst="rect">
            <a:avLst/>
          </a:prstGeom>
          <a:solidFill>
            <a:srgbClr val="2A3042"/>
          </a:solidFill>
          <a:ln w="6350">
            <a:solidFill>
              <a:srgbClr val="4A5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18688" y="265176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ED58E"/>
                </a:solidFill>
              </a:rPr>
              <a:t>1 → 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720840" y="2651760"/>
            <a:ext cx="594360" cy="228600"/>
          </a:xfrm>
          <a:prstGeom prst="rect">
            <a:avLst/>
          </a:prstGeom>
          <a:solidFill>
            <a:srgbClr val="2A3042"/>
          </a:solidFill>
          <a:ln w="6350">
            <a:solidFill>
              <a:srgbClr val="4A5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20840" y="265176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ED58E"/>
                </a:solidFill>
              </a:rPr>
              <a:t>1 → many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26280" y="4325112"/>
            <a:ext cx="594360" cy="228600"/>
          </a:xfrm>
          <a:prstGeom prst="rect">
            <a:avLst/>
          </a:prstGeom>
          <a:solidFill>
            <a:srgbClr val="2A3042"/>
          </a:solidFill>
          <a:ln w="6350">
            <a:solidFill>
              <a:srgbClr val="4A5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26280" y="4325112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ED58E"/>
                </a:solidFill>
              </a:rPr>
              <a:t>1 → 4 stages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" y="5577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8CC"/>
                </a:solidFill>
              </a:rPr>
              <a:t>↺ manager_id → employee_id (self-join)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A078FF"/>
                </a:solidFill>
              </a:rPr>
              <a:t>WORKFLOW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The Onboarding Workflow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</a:rPr>
              <a:t>AWS Step Functions state machine — fully event-driven, auditable, serverless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12700"/>
          </a:xfrm>
          <a:prstGeom prst="rect">
            <a:avLst/>
          </a:prstGeom>
          <a:solidFill>
            <a:srgbClr val="4A5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2468880" cy="3291840"/>
          </a:xfrm>
          <a:prstGeom prst="rect">
            <a:avLst/>
          </a:prstGeom>
          <a:solidFill>
            <a:srgbClr val="161A24"/>
          </a:solidFill>
          <a:ln w="12700">
            <a:solidFill>
              <a:srgbClr val="22C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20" y="1554480"/>
            <a:ext cx="640080" cy="640080"/>
          </a:xfrm>
          <a:prstGeom prst="ellipse">
            <a:avLst/>
          </a:prstGeom>
          <a:solidFill>
            <a:srgbClr val="22C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1554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C5BF"/>
                </a:solidFill>
              </a:rPr>
              <a:t>Stage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4203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Document
Collection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90672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0B8CC"/>
                </a:solidFill>
              </a:rPr>
              <a:t>Validates 3 docs
in S3 + DynamoDB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4480560"/>
            <a:ext cx="914400" cy="256032"/>
          </a:xfrm>
          <a:prstGeom prst="rect">
            <a:avLst/>
          </a:prstGeom>
          <a:solidFill>
            <a:srgbClr val="22C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44805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0F14"/>
                </a:solidFill>
              </a:rPr>
              <a:t>✓ COMPLETE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417320"/>
            <a:ext cx="2468880" cy="3291840"/>
          </a:xfrm>
          <a:prstGeom prst="rect">
            <a:avLst/>
          </a:prstGeom>
          <a:solidFill>
            <a:srgbClr val="161A24"/>
          </a:solidFill>
          <a:ln w="12700">
            <a:solidFill>
              <a:srgbClr val="3ED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60520" y="1554480"/>
            <a:ext cx="640080" cy="640080"/>
          </a:xfrm>
          <a:prstGeom prst="ellipse">
            <a:avLst/>
          </a:prstGeom>
          <a:solidFill>
            <a:srgbClr val="3ED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0520" y="1554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D58E"/>
                </a:solidFill>
              </a:rPr>
              <a:t>Stage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254203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IT
Provisioning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3090672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0B8CC"/>
                </a:solidFill>
              </a:rPr>
              <a:t>Creates Cognito
account + sends
credentials via 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4480560"/>
            <a:ext cx="914400" cy="256032"/>
          </a:xfrm>
          <a:prstGeom prst="rect">
            <a:avLst/>
          </a:prstGeom>
          <a:solidFill>
            <a:srgbClr val="3ED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60" y="44805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0F14"/>
                </a:solidFill>
              </a:rPr>
              <a:t>✓ COMPLETE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1417320"/>
            <a:ext cx="2468880" cy="3291840"/>
          </a:xfrm>
          <a:prstGeom prst="rect">
            <a:avLst/>
          </a:prstGeom>
          <a:solidFill>
            <a:srgbClr val="161A24"/>
          </a:solidFill>
          <a:ln w="127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03720" y="1554480"/>
            <a:ext cx="640080" cy="640080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1554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✍️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C518"/>
                </a:solidFill>
              </a:rPr>
              <a:t>Stage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254203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Policy
Sign-off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3090672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0B8CC"/>
                </a:solidFill>
              </a:rPr>
              <a:t>Checks signed_at
timestamp in DB
for 5 policies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60" y="4480560"/>
            <a:ext cx="914400" cy="2560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44805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0F14"/>
                </a:solidFill>
              </a:rPr>
              <a:t>✓ COMPLETE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32520" y="1417320"/>
            <a:ext cx="2468880" cy="3291840"/>
          </a:xfrm>
          <a:prstGeom prst="rect">
            <a:avLst/>
          </a:prstGeom>
          <a:solidFill>
            <a:srgbClr val="161A24"/>
          </a:solidFill>
          <a:ln w="12700">
            <a:solidFill>
              <a:srgbClr val="A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646920" y="1554480"/>
            <a:ext cx="640080" cy="640080"/>
          </a:xfrm>
          <a:prstGeom prst="ellipse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46920" y="1554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078FF"/>
                </a:solidFill>
              </a:rPr>
              <a:t>Stage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254203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Manager
Intro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3090672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0B8CC"/>
                </a:solidFill>
              </a:rPr>
              <a:t>Sends intro emails
to hire + manager
Updates status→ACTIVE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09760" y="4480560"/>
            <a:ext cx="914400" cy="256032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9760" y="44805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0F14"/>
                </a:solidFill>
              </a:rPr>
              <a:t>✓ COMPLETE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99232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A5268"/>
                </a:solidFill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42432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A5268"/>
                </a:solidFill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85632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A5268"/>
                </a:solidFill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489204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B0B8CC"/>
                </a:solidFill>
              </a:rPr>
              <a:t>⏳  Wait states between stages check DynamoDB every 30s (demo) / 24h (production) before advancing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257800"/>
            <a:ext cx="11247120" cy="54864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3218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D58E"/>
                </a:solidFill>
              </a:rPr>
              <a:t>✦ Event-driven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80360" y="53218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D58E"/>
                </a:solidFill>
              </a:rPr>
              <a:t>✦ Auto-retry on failure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0" y="53218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D58E"/>
                </a:solidFill>
              </a:rPr>
              <a:t>✦ Full execution history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78040" y="53218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D58E"/>
                </a:solidFill>
              </a:rPr>
              <a:t>✦ No servers polling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53218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D58E"/>
                </a:solidFill>
              </a:rPr>
              <a:t>✦ Visual debugger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3ED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3ED58E"/>
                </a:solidFill>
              </a:rPr>
              <a:t>LIVE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Live Execution Proof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B8CC"/>
                </a:solidFill>
              </a:rPr>
              <a:t>Employee: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960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ED58E"/>
                </a:solidFill>
              </a:rPr>
              <a:t>Arjun Sharma · EMP-4FEA92A3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960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B8CC"/>
                </a:solidFill>
              </a:rPr>
              <a:t>Status: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960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ED58E"/>
                </a:solidFill>
              </a:rPr>
              <a:t>✅  SUCCEEDED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960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B8CC"/>
                </a:solidFill>
              </a:rPr>
              <a:t>Duration: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960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ED58E"/>
                </a:solidFill>
              </a:rPr>
              <a:t>66 seconds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960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B8CC"/>
                </a:solidFill>
              </a:rPr>
              <a:t>Date: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960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ED58E"/>
                </a:solidFill>
              </a:rPr>
              <a:t>2026-04-08 · 15:11 IST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417320"/>
            <a:ext cx="11430000" cy="12700"/>
          </a:xfrm>
          <a:prstGeom prst="rect">
            <a:avLst/>
          </a:prstGeom>
          <a:solidFill>
            <a:srgbClr val="4A5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55448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C"/>
                </a:solidFill>
              </a:rPr>
              <a:t>15:11:53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155448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C5BF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15544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BF"/>
                </a:solidFill>
              </a:rPr>
              <a:t>DocumentCollection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155448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</a:rPr>
              <a:t>Stage 1 starts — checks DynamoDB for uploads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81328" y="1901952"/>
            <a:ext cx="19050" cy="118872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020824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268"/>
                </a:solidFill>
              </a:rPr>
              <a:t>15:11:54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020824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A5268"/>
                </a:solidFill>
              </a:rPr>
              <a:t>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20208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5268"/>
                </a:solidFill>
              </a:rPr>
              <a:t>WaitForDocuments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2020824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268"/>
                </a:solidFill>
              </a:rPr>
              <a:t>30-second wait — documents uploaded during pause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81328" y="2368296"/>
            <a:ext cx="19050" cy="118872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48716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C"/>
                </a:solidFill>
              </a:rPr>
              <a:t>15:12:25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48716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C5BF"/>
                </a:solidFill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24871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BF"/>
                </a:solidFill>
              </a:rPr>
              <a:t>DocumentCollection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248716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</a:rPr>
              <a:t>All 3 documents received — stage COMPLETE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81328" y="2834640"/>
            <a:ext cx="19050" cy="118872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295351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C"/>
                </a:solidFill>
              </a:rPr>
              <a:t>15:12:25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2953512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D58E"/>
                </a:solidFill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29535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D58E"/>
                </a:solidFill>
              </a:rPr>
              <a:t>ITProvisioning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295351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</a:rPr>
              <a:t>Stage 2 — creates Cognito user, sends credentials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81328" y="3300984"/>
            <a:ext cx="19050" cy="118872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41985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C"/>
                </a:solidFill>
              </a:rPr>
              <a:t>15:12:27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419856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D58E"/>
                </a:solidFill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37360" y="34198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D58E"/>
                </a:solidFill>
              </a:rPr>
              <a:t>ITProvisioning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3419856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</a:rPr>
              <a:t>Cognito account created — stage COMPLETE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481328" y="3767328"/>
            <a:ext cx="19050" cy="118872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388620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C"/>
                </a:solidFill>
              </a:rPr>
              <a:t>15:12:27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388620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C518"/>
                </a:solidFill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37360" y="38862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PolicySignoff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38862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</a:rPr>
              <a:t>Stage 3 — checks policy signed_at timestamp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81328" y="4233672"/>
            <a:ext cx="19050" cy="118872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4352544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268"/>
                </a:solidFill>
              </a:rPr>
              <a:t>15:12:27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4352544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A5268"/>
                </a:solidFill>
              </a:rPr>
              <a:t>⏳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37360" y="43525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5268"/>
                </a:solidFill>
              </a:rPr>
              <a:t>WaitForPolicySignoff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43400" y="4352544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268"/>
                </a:solidFill>
              </a:rPr>
              <a:t>30-second wait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481328" y="4700016"/>
            <a:ext cx="19050" cy="118872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481888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C"/>
                </a:solidFill>
              </a:rPr>
              <a:t>15:12:58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71600" y="481888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C518"/>
                </a:solidFill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37360" y="48188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PolicySignoff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43400" y="481888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</a:rPr>
              <a:t>All 5 policies signed — stage COMPLETE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481328" y="5166360"/>
            <a:ext cx="19050" cy="118872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528523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C"/>
                </a:solidFill>
              </a:rPr>
              <a:t>15:12:58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71600" y="5285232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078FF"/>
                </a:solidFill>
              </a:rPr>
              <a:t>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737360" y="52852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078FF"/>
                </a:solidFill>
              </a:rPr>
              <a:t>ManagerIntro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43400" y="528523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</a:rPr>
              <a:t>Stage 4 — intro emails to employee + manager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481328" y="5632704"/>
            <a:ext cx="19050" cy="118872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920" y="575157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C"/>
                </a:solidFill>
              </a:rPr>
              <a:t>15:12:59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71600" y="5751576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D58E"/>
                </a:solidFill>
              </a:rPr>
              <a:t>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737360" y="575157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D58E"/>
                </a:solidFill>
              </a:rPr>
              <a:t>OnboardingComplete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43400" y="5751576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</a:rPr>
              <a:t>🎉  EXECUTION SUCCEEDED — employee status → ACTIVE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6309360"/>
            <a:ext cx="11247120" cy="347472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" y="63550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C"/>
                </a:solidFill>
              </a:rPr>
              <a:t>Doc Collection: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920240" y="635508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BF"/>
                </a:solidFill>
              </a:rPr>
              <a:t>~32s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880360" y="63550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C"/>
                </a:solidFill>
              </a:rPr>
              <a:t>IT Provisioning: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14800" y="635508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ED58E"/>
                </a:solidFill>
              </a:rPr>
              <a:t>~1.7s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74920" y="63550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C"/>
                </a:solidFill>
              </a:rPr>
              <a:t>Policy Sign-off: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09360" y="635508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</a:rPr>
              <a:t>~30.3s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69480" y="63550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C"/>
                </a:solidFill>
              </a:rPr>
              <a:t>Manager Intro: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03920" y="635508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78FF"/>
                </a:solidFill>
              </a:rPr>
              <a:t>~2.1s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464040" y="63550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C"/>
                </a:solidFill>
              </a:rPr>
              <a:t>TOTAL: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98480" y="635508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66s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22C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22C5BF"/>
                </a:solidFill>
              </a:rPr>
              <a:t>DEMO · PART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Demo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955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2C5BF"/>
                </a:solidFill>
              </a:rPr>
              <a:t>Part A — New Hire Experience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07008"/>
            <a:ext cx="11430000" cy="12700"/>
          </a:xfrm>
          <a:prstGeom prst="rect">
            <a:avLst/>
          </a:prstGeom>
          <a:solidFill>
            <a:srgbClr val="4A5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B8CC"/>
                </a:solidFill>
              </a:rPr>
              <a:t>🌐  App URL: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29844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C5BF"/>
                </a:solidFill>
              </a:rPr>
              <a:t>hrms-onboarding-frontend-dev.s3-website.ap-south-1.amazonaws.com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384048" cy="384048"/>
          </a:xfrm>
          <a:prstGeom prst="rect">
            <a:avLst/>
          </a:prstGeom>
          <a:solidFill>
            <a:srgbClr val="22C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7373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0F14"/>
                </a:solidFill>
              </a:rPr>
              <a:t>A1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373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BF"/>
                </a:solidFill>
              </a:rPr>
              <a:t>Open the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98424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CC"/>
                </a:solidFill>
              </a:rPr>
              <a:t>Go to the URL above → splash animation plays → landing page shows 2 cards.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404872"/>
            <a:ext cx="384048" cy="384048"/>
          </a:xfrm>
          <a:prstGeom prst="rect">
            <a:avLst/>
          </a:prstGeom>
          <a:solidFill>
            <a:srgbClr val="22C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40487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0F14"/>
                </a:solidFill>
              </a:rPr>
              <a:t>A2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4048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BF"/>
                </a:solidFill>
              </a:rPr>
              <a:t>Enter New Hire Portal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65176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CC"/>
                </a:solidFill>
              </a:rPr>
              <a:t>Click 'New Hire Portal' → another splash → Step 1 of 4 appears.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072384"/>
            <a:ext cx="384048" cy="384048"/>
          </a:xfrm>
          <a:prstGeom prst="rect">
            <a:avLst/>
          </a:prstGeom>
          <a:solidFill>
            <a:srgbClr val="3ED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0723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0F14"/>
                </a:solidFill>
              </a:rPr>
              <a:t>A3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07238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ED58E"/>
                </a:solidFill>
              </a:rPr>
              <a:t>Fill in Profile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319272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CC"/>
                </a:solidFill>
              </a:rPr>
              <a:t>First: Priya · Last: Menon · Email: priya.menon@example.com · Dept: Engineering · Role: Frontend Engineer · Click Continue 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39896"/>
            <a:ext cx="384048" cy="38404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73989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0F14"/>
                </a:solidFill>
              </a:rPr>
              <a:t>A4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3989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Upload Documents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986784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CC"/>
                </a:solidFill>
              </a:rPr>
              <a:t>Click each of the 3 cards (ID Proof, Degree, Offer Letter) → choose any PDF → green badge appears. Click Continue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407408"/>
            <a:ext cx="384048" cy="38404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40740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0F14"/>
                </a:solidFill>
              </a:rPr>
              <a:t>A5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40740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Sign Policies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65429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CC"/>
                </a:solidFill>
              </a:rPr>
              <a:t>Tick all 5 checkboxes → progress bar fills to 100% → Click Continue 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074920"/>
            <a:ext cx="384048" cy="384048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0749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0F14"/>
                </a:solidFill>
              </a:rPr>
              <a:t>A6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07492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78FF"/>
                </a:solidFill>
              </a:rPr>
              <a:t>Manager Intro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32180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CC"/>
                </a:solidFill>
              </a:rPr>
              <a:t>Optionally type a note → Click 'Submit &amp; Complete ✓'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742432"/>
            <a:ext cx="384048" cy="384048"/>
          </a:xfrm>
          <a:prstGeom prst="rect">
            <a:avLst/>
          </a:prstGeom>
          <a:solidFill>
            <a:srgbClr val="3ED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57424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0F14"/>
                </a:solidFill>
              </a:rPr>
              <a:t>A7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7424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ED58E"/>
                </a:solidFill>
              </a:rPr>
              <a:t>Completion Screen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98932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CC"/>
                </a:solidFill>
              </a:rPr>
              <a:t>Shows all stages. Click '← Back to Home' to return.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3ED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3ED58E"/>
                </a:solidFill>
              </a:rPr>
              <a:t>DEMO · PART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Demo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955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ED58E"/>
                </a:solidFill>
              </a:rPr>
              <a:t>Part B — HR Admin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07008"/>
            <a:ext cx="11430000" cy="12700"/>
          </a:xfrm>
          <a:prstGeom prst="rect">
            <a:avLst/>
          </a:prstGeom>
          <a:solidFill>
            <a:srgbClr val="4A5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B8CC"/>
                </a:solidFill>
              </a:rPr>
              <a:t>🔑  HR PIN: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1261872"/>
            <a:ext cx="685800" cy="365760"/>
          </a:xfrm>
          <a:prstGeom prst="rect">
            <a:avLst/>
          </a:prstGeom>
          <a:solidFill>
            <a:srgbClr val="3ED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126187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0F14"/>
                </a:solidFill>
              </a:rPr>
              <a:t>1234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2984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B8CC"/>
                </a:solidFill>
              </a:rPr>
              <a:t>← auto-unlocks on 4th digit, no Enter needed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37360"/>
            <a:ext cx="384048" cy="384048"/>
          </a:xfrm>
          <a:prstGeom prst="rect">
            <a:avLst/>
          </a:prstGeom>
          <a:solidFill>
            <a:srgbClr val="3ED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7373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0F14"/>
                </a:solidFill>
              </a:rPr>
              <a:t>B1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17373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ED58E"/>
                </a:solidFill>
              </a:rPr>
              <a:t>Open HR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198424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CC"/>
                </a:solidFill>
              </a:rPr>
              <a:t>From landing page click 'HR Admin Dashboard' → splash plays → PIN gate appears.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404872"/>
            <a:ext cx="384048" cy="384048"/>
          </a:xfrm>
          <a:prstGeom prst="rect">
            <a:avLst/>
          </a:prstGeom>
          <a:solidFill>
            <a:srgbClr val="3ED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40487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0F14"/>
                </a:solidFill>
              </a:rPr>
              <a:t>B2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40487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ED58E"/>
                </a:solidFill>
              </a:rPr>
              <a:t>Enter PIN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65176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CC"/>
                </a:solidFill>
              </a:rPr>
              <a:t>Type 1-2-3-4. On the 4th digit the screen fades out automatically. Dashboard fades in.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072384"/>
            <a:ext cx="384048" cy="384048"/>
          </a:xfrm>
          <a:prstGeom prst="rect">
            <a:avLst/>
          </a:prstGeom>
          <a:solidFill>
            <a:srgbClr val="22C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0723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0F14"/>
                </a:solidFill>
              </a:rPr>
              <a:t>B3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07238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BF"/>
                </a:solidFill>
              </a:rPr>
              <a:t>Read the Stats Bar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319272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CC"/>
                </a:solidFill>
              </a:rPr>
              <a:t>5 metric cards: Total Employees · In Progress · Completed · Docs Pending · Avg Completion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739896"/>
            <a:ext cx="384048" cy="384048"/>
          </a:xfrm>
          <a:prstGeom prst="rect">
            <a:avLst/>
          </a:prstGeom>
          <a:solidFill>
            <a:srgbClr val="22C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73989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0F14"/>
                </a:solidFill>
              </a:rPr>
              <a:t>B4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373989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BF"/>
                </a:solidFill>
              </a:rPr>
              <a:t>Find Your New Hire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986784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CC"/>
                </a:solidFill>
              </a:rPr>
              <a:t>Type 'Priya' in the search bar → table filters live to show Priya Menon's row.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407408"/>
            <a:ext cx="384048" cy="38404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40740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0F14"/>
                </a:solidFill>
              </a:rPr>
              <a:t>B5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40740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Expand Detail Panel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65429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CC"/>
                </a:solidFill>
              </a:rPr>
              <a:t>Click Priya's row → detail panel slides open showing all 4 stages with timestamps + 3 document badges.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074920"/>
            <a:ext cx="384048" cy="38404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0749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0F14"/>
                </a:solidFill>
              </a:rPr>
              <a:t>B6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07492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Refresh 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32180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CC"/>
                </a:solidFill>
              </a:rPr>
              <a:t>Click the Refresh button (top right) → spinning icon → data reloads from live API.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742432"/>
            <a:ext cx="384048" cy="384048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7424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0F14"/>
                </a:solidFill>
              </a:rPr>
              <a:t>B7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57424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78FF"/>
                </a:solidFill>
              </a:rPr>
              <a:t>Filter by Status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98932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CC"/>
                </a:solidFill>
              </a:rPr>
              <a:t>Use filter pills: All · In Progress · Completed · Pending — each filters the table.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F5C518"/>
                </a:solidFill>
              </a:rPr>
              <a:t>DEMO · PART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Demo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955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5C518"/>
                </a:solidFill>
              </a:rPr>
              <a:t>Part C — AWS Console Evidence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07008"/>
            <a:ext cx="11430000" cy="12700"/>
          </a:xfrm>
          <a:prstGeom prst="rect">
            <a:avLst/>
          </a:prstGeom>
          <a:solidFill>
            <a:srgbClr val="4A5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11155680" cy="914400"/>
          </a:xfrm>
          <a:prstGeom prst="rect">
            <a:avLst/>
          </a:prstGeom>
          <a:solidFill>
            <a:srgbClr val="161A24"/>
          </a:solidFill>
          <a:ln w="127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457200" cy="9144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7335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0F14"/>
                </a:solidFill>
              </a:rPr>
              <a:t>C1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4630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Step Functions Console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764792"/>
            <a:ext cx="10332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</a:rPr>
              <a:t>Open AWS Console → Step Functions → hrms-onboarding-workflow → Executions tab
→ Click latest SUCCEEDED execution → Graph view (all states green) → Events tab (full timeline)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41448"/>
            <a:ext cx="11155680" cy="914400"/>
          </a:xfrm>
          <a:prstGeom prst="rect">
            <a:avLst/>
          </a:prstGeom>
          <a:solidFill>
            <a:srgbClr val="161A24"/>
          </a:solidFill>
          <a:ln w="12700">
            <a:solidFill>
              <a:srgbClr val="22C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441448"/>
            <a:ext cx="457200" cy="914400"/>
          </a:xfrm>
          <a:prstGeom prst="rect">
            <a:avLst/>
          </a:prstGeom>
          <a:solidFill>
            <a:srgbClr val="22C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69748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0F14"/>
                </a:solidFill>
              </a:rPr>
              <a:t>C2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48716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BF"/>
                </a:solidFill>
              </a:rPr>
              <a:t>DynamoDB — Employees 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788920"/>
            <a:ext cx="10332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</a:rPr>
              <a:t>DynamoDB → hrms-employees → Explore table items
→ Find your employee: status = ACTIVE, cognito_user_id populated, all fields present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65576"/>
            <a:ext cx="11155680" cy="914400"/>
          </a:xfrm>
          <a:prstGeom prst="rect">
            <a:avLst/>
          </a:prstGeom>
          <a:solidFill>
            <a:srgbClr val="161A24"/>
          </a:solidFill>
          <a:ln w="12700">
            <a:solidFill>
              <a:srgbClr val="22C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465576"/>
            <a:ext cx="457200" cy="914400"/>
          </a:xfrm>
          <a:prstGeom prst="rect">
            <a:avLst/>
          </a:prstGeom>
          <a:solidFill>
            <a:srgbClr val="22C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72160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0F14"/>
                </a:solidFill>
              </a:rPr>
              <a:t>C3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511296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BF"/>
                </a:solidFill>
              </a:rPr>
              <a:t>DynamoDB — Stages 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813048"/>
            <a:ext cx="10332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</a:rPr>
              <a:t>DynamoDB → hrms-onboarding-stages → Filter by workflow_id
→ All 4 rows show status = COMPLETE with completed_at timestamps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489704"/>
            <a:ext cx="11155680" cy="914400"/>
          </a:xfrm>
          <a:prstGeom prst="rect">
            <a:avLst/>
          </a:prstGeom>
          <a:solidFill>
            <a:srgbClr val="161A24"/>
          </a:solidFill>
          <a:ln w="12700">
            <a:solidFill>
              <a:srgbClr val="3ED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489704"/>
            <a:ext cx="457200" cy="914400"/>
          </a:xfrm>
          <a:prstGeom prst="rect">
            <a:avLst/>
          </a:prstGeom>
          <a:solidFill>
            <a:srgbClr val="3ED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745736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0F14"/>
                </a:solidFill>
              </a:rPr>
              <a:t>C4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535424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D58E"/>
                </a:solidFill>
              </a:rPr>
              <a:t>S3 Bucket — Uploaded Documents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837176"/>
            <a:ext cx="10332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</a:rPr>
              <a:t>S3 → hrms-onboarding-documents-736786104206-dev → documents/{employee_id}/
→ 3 files visible: ID_PROOF, DEGREE_CERTIFICATE, OFFER_LETTER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513832"/>
            <a:ext cx="11155680" cy="914400"/>
          </a:xfrm>
          <a:prstGeom prst="rect">
            <a:avLst/>
          </a:prstGeom>
          <a:solidFill>
            <a:srgbClr val="161A24"/>
          </a:solidFill>
          <a:ln w="12700">
            <a:solidFill>
              <a:srgbClr val="3ED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5513832"/>
            <a:ext cx="457200" cy="914400"/>
          </a:xfrm>
          <a:prstGeom prst="rect">
            <a:avLst/>
          </a:prstGeom>
          <a:solidFill>
            <a:srgbClr val="3ED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769864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0F14"/>
                </a:solidFill>
              </a:rPr>
              <a:t>C5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559552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D58E"/>
                </a:solidFill>
              </a:rPr>
              <a:t>S3 — Encryption Proof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861304"/>
            <a:ext cx="10332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</a:rPr>
              <a:t>S3 bucket → Properties tab → Default encryption → AES-256 server-side encryption enabled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3ED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3ED58E"/>
                </a:solidFill>
              </a:rPr>
              <a:t>COST ESTIMATE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Cost Estimate — 50 Hires/Month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</a:rPr>
              <a:t>AWS ap-south-1 (Mumbai) · All major services within free tier at this scale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07008"/>
            <a:ext cx="11430000" cy="12700"/>
          </a:xfrm>
          <a:prstGeom prst="rect">
            <a:avLst/>
          </a:prstGeom>
          <a:solidFill>
            <a:srgbClr val="4A5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B8CC"/>
                </a:solidFill>
              </a:rPr>
              <a:t>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325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B8CC"/>
                </a:solidFill>
              </a:rPr>
              <a:t>Usage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325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B8CC"/>
                </a:solidFill>
              </a:rPr>
              <a:t>Cost/mo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325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B8CC"/>
                </a:solidFill>
              </a:rPr>
              <a:t>Pricing Basis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627632"/>
            <a:ext cx="11247120" cy="12700"/>
          </a:xfrm>
          <a:prstGeom prst="rect">
            <a:avLst/>
          </a:prstGeom>
          <a:solidFill>
            <a:srgbClr val="4A5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691640"/>
            <a:ext cx="11247120" cy="484632"/>
          </a:xfrm>
          <a:prstGeom prst="rect">
            <a:avLst/>
          </a:prstGeom>
          <a:solidFill>
            <a:srgbClr val="14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76479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⚡ Lambda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17647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</a:rPr>
              <a:t>750 invocations/mo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76479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ED58E"/>
                </a:solidFill>
              </a:rPr>
              <a:t>$0.00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17647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268"/>
                </a:solidFill>
              </a:rPr>
              <a:t>Covered by 1M free 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24942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78FF"/>
                </a:solidFill>
              </a:rPr>
              <a:t>🔀 Step Functions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224942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</a:rPr>
              <a:t>1,650 transitions/mo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24942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ED58E"/>
                </a:solidFill>
              </a:rPr>
              <a:t>$0.00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24942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268"/>
                </a:solidFill>
              </a:rPr>
              <a:t>First 4,000 are free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660904"/>
            <a:ext cx="11247120" cy="484632"/>
          </a:xfrm>
          <a:prstGeom prst="rect">
            <a:avLst/>
          </a:prstGeom>
          <a:solidFill>
            <a:srgbClr val="14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73405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BF"/>
                </a:solidFill>
              </a:rPr>
              <a:t>🗄️ DynamoDB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273405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</a:rPr>
              <a:t>1,500 writes · 5,000 reads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73405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ED58E"/>
                </a:solidFill>
              </a:rPr>
              <a:t>$0.00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273405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268"/>
                </a:solidFill>
              </a:rPr>
              <a:t>25GB always free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21868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ED58E"/>
                </a:solidFill>
              </a:rPr>
              <a:t>🪣 S3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32186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</a:rPr>
              <a:t>75MB storage · 150 PUTs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2186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ED58E"/>
                </a:solidFill>
              </a:rPr>
              <a:t>$0.004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32186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268"/>
                </a:solidFill>
              </a:rPr>
              <a:t>$0.023/GB storage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630168"/>
            <a:ext cx="11247120" cy="484632"/>
          </a:xfrm>
          <a:prstGeom prst="rect">
            <a:avLst/>
          </a:prstGeom>
          <a:solidFill>
            <a:srgbClr val="14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7033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ED58E"/>
                </a:solidFill>
              </a:rPr>
              <a:t>📧 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37033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</a:rPr>
              <a:t>400 emails/mo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370332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ED58E"/>
                </a:solidFill>
              </a:rPr>
              <a:t>$0.04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37033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268"/>
                </a:solidFill>
              </a:rPr>
              <a:t>$0.10 per 1,000 emails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18795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844"/>
                </a:solidFill>
              </a:rPr>
              <a:t>🔐 Cognito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9039" y="41879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</a:rPr>
              <a:t>50 MAUs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18795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ED58E"/>
                </a:solidFill>
              </a:rPr>
              <a:t>$0.00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41879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268"/>
                </a:solidFill>
              </a:rPr>
              <a:t>First 50,000 MAU free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599432"/>
            <a:ext cx="11247120" cy="484632"/>
          </a:xfrm>
          <a:prstGeom prst="rect">
            <a:avLst/>
          </a:prstGeom>
          <a:solidFill>
            <a:srgbClr val="14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467258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666"/>
                </a:solidFill>
              </a:rPr>
              <a:t>📢 SNS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49039" y="467258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</a:rPr>
              <a:t>50 notifications/mo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467258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ED58E"/>
                </a:solidFill>
              </a:rPr>
              <a:t>$0.00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467258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268"/>
                </a:solidFill>
              </a:rPr>
              <a:t>First 1M free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15721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BF"/>
                </a:solidFill>
              </a:rPr>
              <a:t>🌐 API Gateway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9039" y="515721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</a:rPr>
              <a:t>~200 requests/mo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515721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ED58E"/>
                </a:solidFill>
              </a:rPr>
              <a:t>$0.001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515721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268"/>
                </a:solidFill>
              </a:rPr>
              <a:t>$3.50 per million requests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solidFill>
            <a:srgbClr val="2A3042"/>
          </a:solidFill>
          <a:ln w="15240">
            <a:solidFill>
              <a:srgbClr val="3ED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58064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TOTAL MONTHLY COST: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03520" y="5806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ED58E"/>
                </a:solidFill>
              </a:rPr>
              <a:t>~$0.05 / month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5833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8CC"/>
                </a:solidFill>
              </a:rPr>
              <a:t>≈ ₹4 per month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4A5268"/>
                </a:solidFill>
              </a:rPr>
              <a:t>Scales to 5,000 hires/month for just ~$5.00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"/>
          </a:xfrm>
          <a:prstGeom prst="rect">
            <a:avLst/>
          </a:prstGeom>
          <a:solidFill>
            <a:srgbClr val="3ED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2514"/>
            <a:ext cx="12188952" cy="5486"/>
          </a:xfrm>
          <a:prstGeom prst="rect">
            <a:avLst/>
          </a:prstGeom>
          <a:solidFill>
            <a:srgbClr val="22C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0" y="-1371600"/>
            <a:ext cx="6400800" cy="6400800"/>
          </a:xfrm>
          <a:prstGeom prst="ellipse">
            <a:avLst/>
          </a:prstGeom>
          <a:solidFill>
            <a:srgbClr val="12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OnboardIQ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22C5BF"/>
                </a:solidFill>
              </a:rPr>
              <a:t>From offer letter to Day 1 login.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9300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3ED58E"/>
                </a:solidFill>
              </a:rPr>
              <a:t>Fully automated. Fully serverless.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206240"/>
            <a:ext cx="11430000" cy="12700"/>
          </a:xfrm>
          <a:prstGeom prst="rect">
            <a:avLst/>
          </a:prstGeom>
          <a:solidFill>
            <a:srgbClr val="4A5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5268"/>
                </a:solidFill>
              </a:rPr>
              <a:t>🌐 Live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451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ED58E"/>
                </a:solidFill>
              </a:rPr>
              <a:t>hrms-onboarding-frontend-dev.s3-website.ap-south-1.amazonaws.com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5268"/>
                </a:solidFill>
              </a:rPr>
              <a:t>🔑 HR PIN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6451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ED58E"/>
                </a:solidFill>
              </a:rPr>
              <a:t>1234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5268"/>
                </a:solidFill>
              </a:rPr>
              <a:t>☁️ Region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6451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ED58E"/>
                </a:solidFill>
              </a:rPr>
              <a:t>ap-south-1 · Mumbai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5268"/>
                </a:solidFill>
              </a:rPr>
              <a:t>📦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46451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ED58E"/>
                </a:solidFill>
              </a:rPr>
              <a:t>hrms-onboarding-stack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66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4A5268"/>
                </a:solidFill>
              </a:rPr>
              <a:t>Built with  AWS Lambda · Step Functions · DynamoDB · S3 · Cognito · SES · SNS · API Gateway · React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5778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3ED58E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