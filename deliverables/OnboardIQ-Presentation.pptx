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46720" y="0"/>
            <a:ext cx="4142232" cy="6858000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5002" y="1482242"/>
            <a:ext cx="281635" cy="281635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1371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7315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1C1A17"/>
                </a:solidFill>
              </a:rPr>
              <a:t>Smart Employee
Onboarding &amp;
Identity 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4407408"/>
            <a:ext cx="1005840" cy="36576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617720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C5852"/>
                </a:solidFill>
              </a:rPr>
              <a:t>From offer letter acceptance to Day 1 login — fully automated on AWS.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5349240"/>
            <a:ext cx="1197864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349240"/>
            <a:ext cx="1197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2E5A4D"/>
                </a:solidFill>
              </a:rPr>
              <a:t>React 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5349240"/>
            <a:ext cx="1417320" cy="25603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01952" y="534924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97B2E"/>
                </a:solidFill>
              </a:rPr>
              <a:t>AWS Lambda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5349240"/>
            <a:ext cx="1856232" cy="256032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5349240"/>
            <a:ext cx="1856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3D6B9E"/>
                </a:solidFill>
              </a:rPr>
              <a:t>Step Functions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0" y="5349240"/>
            <a:ext cx="1197864" cy="256032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5349240"/>
            <a:ext cx="1197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5C5852"/>
                </a:solidFill>
              </a:rPr>
              <a:t>DynamoDB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02552" y="5349240"/>
            <a:ext cx="1088136" cy="256032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5349240"/>
            <a:ext cx="1088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25042"/>
                </a:solidFill>
              </a:rPr>
              <a:t>Cognito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1828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C8880"/>
                </a:solidFill>
              </a:rPr>
              <a:t>Internship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2860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A17"/>
                </a:solidFill>
              </a:rPr>
              <a:t>AWS Serverless
Full Stack Application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3236976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77072" y="31546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9 Lambda Functions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0" y="3675888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77072" y="359359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4 DynamoDB Tables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0" y="4114800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77072" y="40325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Step Functions Workflow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0" y="4553712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77072" y="447141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React Frontend on S3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07492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Region: ap-south-1 (Mumbai)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PROBLEM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The Problem We're Solving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Traditional employee onboarding is manual, fragmented, and slow.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28800"/>
            <a:ext cx="5394960" cy="347472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1865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5042"/>
                </a:solidFill>
              </a:rPr>
              <a:t>Before OnboardIQ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331720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7512" y="2551176"/>
            <a:ext cx="64008" cy="6400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" y="244144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HR manually emails every new hire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990088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512" y="3209544"/>
            <a:ext cx="64008" cy="6400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" y="3099816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Documents collected over WhatsApp or email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648456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" y="3867912"/>
            <a:ext cx="64008" cy="6400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" y="3758184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No visibility into who completed what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306824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7512" y="4526280"/>
            <a:ext cx="64008" cy="6400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" y="4416552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IT provisions accounts days late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965192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7512" y="5184648"/>
            <a:ext cx="64008" cy="6400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" y="507492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Managers forget to greet new hires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623560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67512" y="5843016"/>
            <a:ext cx="64008" cy="6400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" y="573328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No audit trail or compliance record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28800"/>
            <a:ext cx="5394960" cy="34747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8232" y="1865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5A4D"/>
                </a:solidFill>
              </a:rPr>
              <a:t>With OnboardIQ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2331720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28232" y="2551176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92824" y="244144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Automated emails triggered by workflow engine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2990088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28232" y="3209544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92824" y="3099816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Secure encrypted S3 upload portal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648456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28232" y="3867912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2824" y="3758184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Real-time HR dashboard with stage tracking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4306824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28232" y="4526280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92824" y="4416552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Cognito account created automatically on submit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63640" y="4965192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28232" y="5184648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92824" y="507492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Manager introduction email sent on joining date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5623560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28232" y="5843016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573328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Every action timestamped in DynamoDB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628192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6400800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8C8880"/>
                </a:solidFill>
              </a:rPr>
              <a:t>OnboardIQ replaces all manual steps with a single AWS Step Functions workflow.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OVERVIEW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What OnboardIQ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Two portals. One automated pipeline. Zero manual steps.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8288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A4D"/>
                </a:solidFill>
              </a:rPr>
              <a:t>New Hire Portal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04288"/>
            <a:ext cx="329184" cy="32918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0428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04288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</a:rPr>
              <a:t>Fill in your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542032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Name · Role · Department · Joining 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054096"/>
            <a:ext cx="329184" cy="32918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054096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54096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</a:rPr>
              <a:t>Upload 3 documents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291840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ID Proof · Degree Certificate · Offer Letter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803904"/>
            <a:ext cx="329184" cy="32918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80390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803904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</a:rPr>
              <a:t>Sign 5 policies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041648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Progress bar fills as each policy is acknowledged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553712"/>
            <a:ext cx="329184" cy="32918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55371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55371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</a:rPr>
              <a:t>Manager intro note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791456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Optional message to your reporting manager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303520"/>
            <a:ext cx="329184" cy="32918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303520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30352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</a:rPr>
              <a:t>Done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541264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Credentials arrive in your email inbox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89320" y="1810512"/>
            <a:ext cx="12700" cy="484632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182880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A17"/>
                </a:solidFill>
              </a:rPr>
              <a:t>AWS Does Automatically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2414016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088" y="230428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Employee record created in DynamoDB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2907792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279806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Step Functions execution starts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3401568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19088" y="3291840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S3 validates each document upload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895344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9088" y="378561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Cognito account provisioned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4389120"/>
            <a:ext cx="64008" cy="64008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19088" y="427939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Credentials emailed via SES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882896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19088" y="47731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Policy sign-off timestamped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5376672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19088" y="526694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Manager intro email sent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5870448"/>
            <a:ext cx="64008" cy="64008"/>
          </a:xfrm>
          <a:prstGeom prst="rect">
            <a:avLst/>
          </a:prstGeom>
          <a:solidFill>
            <a:srgbClr val="2E5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9088" y="5760720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Employee status → ACTIVE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System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Fully serverless — no servers to manage, maintain, or scale.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28800"/>
            <a:ext cx="11155680" cy="658368"/>
          </a:xfrm>
          <a:prstGeom prst="rect">
            <a:avLst/>
          </a:prstGeom>
          <a:solidFill>
            <a:srgbClr val="EBF3E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828800"/>
            <a:ext cx="36576" cy="65836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0195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157984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React 18 + Vite · Hosted on S3 Static Website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51760"/>
            <a:ext cx="11155680" cy="658368"/>
          </a:xfrm>
          <a:prstGeom prst="rect">
            <a:avLst/>
          </a:prstGeom>
          <a:solidFill>
            <a:srgbClr val="EBF1F8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651760"/>
            <a:ext cx="36576" cy="658368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72491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D6B9E"/>
                </a:solidFill>
              </a:rPr>
              <a:t>API Gateway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980944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REST API · CORS enabled · Routes to Lambda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474720"/>
            <a:ext cx="11155680" cy="658368"/>
          </a:xfrm>
          <a:prstGeom prst="rect">
            <a:avLst/>
          </a:prstGeom>
          <a:solidFill>
            <a:srgbClr val="FDF3E5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36576" cy="658368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54787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97B2E"/>
                </a:solidFill>
              </a:rPr>
              <a:t>Lambda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03904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9 Functions · Node.js 20 · ARM64 · 256MB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297680"/>
            <a:ext cx="11155680" cy="658368"/>
          </a:xfrm>
          <a:prstGeom prst="rect">
            <a:avLst/>
          </a:prstGeom>
          <a:solidFill>
            <a:srgbClr val="EFEDE8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297680"/>
            <a:ext cx="36576" cy="658368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37083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5852"/>
                </a:solidFill>
              </a:rPr>
              <a:t>Step Functions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626864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4-stage state machine: Doc → IT → Policy → Manager Intro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248716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C8880"/>
                </a:solidFill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331012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C8880"/>
                </a:solidFill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4133087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C8880"/>
                </a:solidFill>
              </a:rPr>
              <a:t>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74920"/>
            <a:ext cx="11155680" cy="54864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193792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C8880"/>
                </a:solidFill>
              </a:rPr>
              <a:t>DATA LAYER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468112"/>
            <a:ext cx="2084831" cy="896112"/>
          </a:xfrm>
          <a:prstGeom prst="rect">
            <a:avLst/>
          </a:prstGeom>
          <a:solidFill>
            <a:srgbClr val="EBF3E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468112"/>
            <a:ext cx="36576" cy="896112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559552"/>
            <a:ext cx="1828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DynamoDB
4 Tables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52344" y="5468112"/>
            <a:ext cx="2084831" cy="896112"/>
          </a:xfrm>
          <a:prstGeom prst="rect">
            <a:avLst/>
          </a:prstGeom>
          <a:solidFill>
            <a:srgbClr val="FDF3E5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52344" y="5468112"/>
            <a:ext cx="36576" cy="896112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16936" y="5559552"/>
            <a:ext cx="1828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97B2E"/>
                </a:solidFill>
              </a:rPr>
              <a:t>S3 Bucket
Encrypted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01768" y="5468112"/>
            <a:ext cx="2084831" cy="896112"/>
          </a:xfrm>
          <a:prstGeom prst="rect">
            <a:avLst/>
          </a:prstGeom>
          <a:solidFill>
            <a:srgbClr val="EBF1F8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01768" y="5468112"/>
            <a:ext cx="36576" cy="896112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66360" y="5559552"/>
            <a:ext cx="1828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D6B9E"/>
                </a:solidFill>
              </a:rPr>
              <a:t>Cognito
User Pool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51192" y="5468112"/>
            <a:ext cx="2084831" cy="896112"/>
          </a:xfrm>
          <a:prstGeom prst="rect">
            <a:avLst/>
          </a:prstGeom>
          <a:solidFill>
            <a:srgbClr val="EFEDE8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251192" y="5468112"/>
            <a:ext cx="36576" cy="896112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15784" y="5559552"/>
            <a:ext cx="1828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SES
Email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500616" y="5468112"/>
            <a:ext cx="2084831" cy="896112"/>
          </a:xfrm>
          <a:prstGeom prst="rect">
            <a:avLst/>
          </a:prstGeom>
          <a:solidFill>
            <a:srgbClr val="FDF3E5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500616" y="5468112"/>
            <a:ext cx="36576" cy="896112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65208" y="5559552"/>
            <a:ext cx="1828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97B2E"/>
                </a:solidFill>
              </a:rPr>
              <a:t>SNS
Alerts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492240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8C8880"/>
                </a:solidFill>
              </a:rPr>
              <a:t>Infrastructure as Code: AWS SAM + CloudFormation · Stack: hrms-onboarding-stack · ap-south-1 (Mumbai)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SERVICES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AWS Services Used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9 managed services — zero servers to provision or maintain.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7451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874519"/>
            <a:ext cx="36576" cy="1298448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874519"/>
            <a:ext cx="3611880" cy="34747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193852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7B2E"/>
                </a:solidFill>
              </a:rPr>
              <a:t>Lambda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35000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9 functions · Node.js 20 · ARM64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187451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1874519"/>
            <a:ext cx="36576" cy="1298448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80" y="1874519"/>
            <a:ext cx="3611880" cy="347472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2272" y="193852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C5852"/>
                </a:solidFill>
              </a:rPr>
              <a:t>Step Functions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235000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4-stage orchestration state machine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187451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2440" y="1874519"/>
            <a:ext cx="36576" cy="1298448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1874519"/>
            <a:ext cx="3611880" cy="347472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7032" y="193852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D6B9E"/>
                </a:solidFill>
              </a:rPr>
              <a:t>DynamoDB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7032" y="235000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4 tables · 3 GSIs · pay-per-request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33755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337559"/>
            <a:ext cx="36576" cy="129844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337559"/>
            <a:ext cx="3611880" cy="34747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" y="340156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C6B"/>
                </a:solidFill>
              </a:rPr>
              <a:t>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" y="381304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Encrypted document storage + static hosting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333755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97680" y="3337559"/>
            <a:ext cx="36576" cy="129844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97680" y="3337559"/>
            <a:ext cx="3611880" cy="347472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340156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25042"/>
                </a:solidFill>
              </a:rPr>
              <a:t>Cognito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2272" y="381304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User pool · auto-provisions new hire accounts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92440" y="333755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2440" y="3337559"/>
            <a:ext cx="36576" cy="1298448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92440" y="3337559"/>
            <a:ext cx="3611880" cy="34747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57032" y="340156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7B2E"/>
                </a:solidFill>
              </a:rPr>
              <a:t>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2" y="381304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Transactional emails — welcome, reminders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80059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4800599"/>
            <a:ext cx="36576" cy="129844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4800599"/>
            <a:ext cx="3611880" cy="34747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486460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C6B"/>
                </a:solidFill>
              </a:rPr>
              <a:t>SNS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7512" y="527608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HR team alerts when all documents received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97680" y="480059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97680" y="4800599"/>
            <a:ext cx="36576" cy="1298448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297680" y="4800599"/>
            <a:ext cx="3611880" cy="347472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62272" y="486460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D6B9E"/>
                </a:solidFill>
              </a:rPr>
              <a:t>API Gateway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62272" y="527608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REST API routing all frontend requests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92440" y="480059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092440" y="4800599"/>
            <a:ext cx="36576" cy="1298448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92440" y="4800599"/>
            <a:ext cx="3611880" cy="347472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57032" y="486460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C5852"/>
                </a:solidFill>
              </a:rPr>
              <a:t>SAM / CF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57032" y="527608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Full infra as code · one-command deploy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ER DIAGRAM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Database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Amazon DynamoDB · 4 tables · 3 Global Secondary Indexes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74519"/>
            <a:ext cx="283464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874519"/>
            <a:ext cx="2834640" cy="34747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874519"/>
            <a:ext cx="36576" cy="443484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1929383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C6B"/>
                </a:solidFill>
              </a:rPr>
              <a:t>hrms-employees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221991"/>
            <a:ext cx="2834640" cy="274320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" y="2240279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7B2E"/>
                </a:solidFill>
              </a:rPr>
              <a:t>🔑  employee_id  PK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" y="249631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first_name, last_name, full_name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" y="277063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email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04495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phone, department, role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331927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employment_type, joining_date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" y="359359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D6B9E"/>
                </a:solidFill>
              </a:rPr>
              <a:t>manager_id  →  FK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386791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cognito_user_id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" y="414223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status  (ONBOARDING / ACTIVE)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41655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created_at, updated_at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0" y="1874519"/>
            <a:ext cx="283464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0" y="1874519"/>
            <a:ext cx="2834640" cy="34747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0" y="1874519"/>
            <a:ext cx="36576" cy="2926080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85616" y="1929383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7B2E"/>
                </a:solidFill>
              </a:rPr>
              <a:t>hrms-onboarding-workflows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0" y="2221991"/>
            <a:ext cx="2834640" cy="274320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85616" y="2240279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7B2E"/>
                </a:solidFill>
              </a:rPr>
              <a:t>🔑  workflow_id  PK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85616" y="249631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D6B9E"/>
                </a:solidFill>
              </a:rPr>
              <a:t>employee_id  GSI →  FK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85616" y="277063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execution_arn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85616" y="304495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current_stage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85616" y="331927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overall_status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85616" y="359359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reminder_attempt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85616" y="386791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started_at, updated_at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5029200"/>
            <a:ext cx="283464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0" y="5029200"/>
            <a:ext cx="2834640" cy="347472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0" y="5029200"/>
            <a:ext cx="36576" cy="1627632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85616" y="508406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D6B9E"/>
                </a:solidFill>
              </a:rPr>
              <a:t>hrms-onboarding-stages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0" y="5376672"/>
            <a:ext cx="2834640" cy="274320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5616" y="539496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7B2E"/>
                </a:solidFill>
              </a:rPr>
              <a:t>🔑  stage_id  PK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85616" y="565099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D6B9E"/>
                </a:solidFill>
              </a:rPr>
              <a:t>workflow_id  GSI →  FK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85616" y="592531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stage_name, status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85616" y="619963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signed_at, completed_at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12280" y="1874519"/>
            <a:ext cx="28346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12280" y="1874519"/>
            <a:ext cx="2834640" cy="347472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12280" y="1874519"/>
            <a:ext cx="36576" cy="4023360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40296" y="1929383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25042"/>
                </a:solidFill>
              </a:rPr>
              <a:t>hrms-documents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12280" y="2221991"/>
            <a:ext cx="2834640" cy="274320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40296" y="2240279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7B2E"/>
                </a:solidFill>
              </a:rPr>
              <a:t>🔑  document_id  PK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40296" y="249631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D6B9E"/>
                </a:solidFill>
              </a:rPr>
              <a:t>employee_id  GSI →  FK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40296" y="277063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doc_type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40296" y="304495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status  (PENDING / UPLOADED)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0296" y="331927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s3_key, content_type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0296" y="359359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verified  (boolean)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40296" y="386791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validation_errors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40296" y="414223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uploaded_at, updated_at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64992" y="2880360"/>
            <a:ext cx="658368" cy="219456"/>
          </a:xfrm>
          <a:prstGeom prst="rect">
            <a:avLst/>
          </a:prstGeom>
          <a:solidFill>
            <a:srgbClr val="EFEDE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64992" y="2880360"/>
            <a:ext cx="6583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5C5852"/>
                </a:solidFill>
              </a:rPr>
              <a:t>1 → 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28816" y="2880360"/>
            <a:ext cx="658368" cy="219456"/>
          </a:xfrm>
          <a:prstGeom prst="rect">
            <a:avLst/>
          </a:prstGeom>
          <a:solidFill>
            <a:srgbClr val="EFEDE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28816" y="2880360"/>
            <a:ext cx="6583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5C5852"/>
                </a:solidFill>
              </a:rPr>
              <a:t>1 → many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4840" y="4773168"/>
            <a:ext cx="658368" cy="219456"/>
          </a:xfrm>
          <a:prstGeom prst="rect">
            <a:avLst/>
          </a:prstGeom>
          <a:solidFill>
            <a:srgbClr val="EFEDE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434840" y="4773168"/>
            <a:ext cx="6583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5C5852"/>
                </a:solidFill>
              </a:rPr>
              <a:t>1 → 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C8880"/>
                </a:solidFill>
              </a:rPr>
              <a:t>↺ manager_id self-joins back to employee_id for org hierarchy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0" y="6492240"/>
            <a:ext cx="7040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1">
                <a:solidFill>
                  <a:srgbClr val="8C8880"/>
                </a:solidFill>
              </a:rPr>
              <a:t>Paste the Mermaid diagram in deliverables/02-er-diagram.md at mermaid.live for a rendered version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WORKFLOW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The Onboarding Workflow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AWS Step Functions — event-driven, auditable, no servers polling.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74519"/>
            <a:ext cx="2633472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874519"/>
            <a:ext cx="2633472" cy="310896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874519"/>
            <a:ext cx="36576" cy="3749039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1920240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A7C6B"/>
                </a:solidFill>
              </a:rPr>
              <a:t>Stage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" y="2240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C1A17"/>
                </a:solidFill>
              </a:rPr>
              <a:t>Document
Collection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" y="3090672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299923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Checks DynamoDB for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" y="3456432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336499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all 3 uploads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" y="3822192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37307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Retries up to 3×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" y="5285232"/>
            <a:ext cx="1719072" cy="237744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28523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4A7C6B"/>
                </a:solidFill>
              </a:rPr>
              <a:t>✓  COMPLETE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1874519"/>
            <a:ext cx="2633472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37560" y="1874519"/>
            <a:ext cx="2633472" cy="310896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37560" y="1874519"/>
            <a:ext cx="36576" cy="3749039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3864" y="1920240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7B2E"/>
                </a:solidFill>
              </a:rPr>
              <a:t>Stage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83864" y="2240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C1A17"/>
                </a:solidFill>
              </a:rPr>
              <a:t>IT
Provisioning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83864" y="3090672"/>
            <a:ext cx="54864" cy="54864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0168" y="299923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Creates Cognito user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83864" y="3456432"/>
            <a:ext cx="54864" cy="54864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30168" y="336499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Emails temp credentials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83864" y="3822192"/>
            <a:ext cx="54864" cy="54864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30168" y="37307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via 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94760" y="5285232"/>
            <a:ext cx="1719072" cy="237744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94760" y="528523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97B2E"/>
                </a:solidFill>
              </a:rPr>
              <a:t>✓  COMPLETE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1874519"/>
            <a:ext cx="2633472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72200" y="1874519"/>
            <a:ext cx="2633472" cy="310896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72200" y="1874519"/>
            <a:ext cx="36576" cy="3749039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18504" y="1920240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6B9E"/>
                </a:solidFill>
              </a:rPr>
              <a:t>Stage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8504" y="2240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C1A17"/>
                </a:solidFill>
              </a:rPr>
              <a:t>Policy
Sign-off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18504" y="3090672"/>
            <a:ext cx="54864" cy="54864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64808" y="299923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Checks signed_at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18504" y="3456432"/>
            <a:ext cx="54864" cy="54864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64808" y="336499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timestamp in DynamoDB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18504" y="3822192"/>
            <a:ext cx="54864" cy="54864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64808" y="37307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for 5 policies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29400" y="5285232"/>
            <a:ext cx="1719072" cy="237744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29400" y="528523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3D6B9E"/>
                </a:solidFill>
              </a:rPr>
              <a:t>✓  COMPLETE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06840" y="1874519"/>
            <a:ext cx="2633472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06840" y="1874519"/>
            <a:ext cx="2633472" cy="310896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06840" y="1874519"/>
            <a:ext cx="36576" cy="3749039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53144" y="1920240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25042"/>
                </a:solidFill>
              </a:rPr>
              <a:t>Stage 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53144" y="2240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C1A17"/>
                </a:solidFill>
              </a:rPr>
              <a:t>Manager
Intro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53144" y="3090672"/>
            <a:ext cx="54864" cy="54864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99448" y="299923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Emails new hire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53144" y="3456432"/>
            <a:ext cx="54864" cy="54864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99448" y="336499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Emails manager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53144" y="3822192"/>
            <a:ext cx="54864" cy="54864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99448" y="37307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Status → ACTIVE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64040" y="5285232"/>
            <a:ext cx="1719072" cy="237744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464040" y="528523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25042"/>
                </a:solidFill>
              </a:rPr>
              <a:t>✓  COMPLETE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45536" y="340156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C8880"/>
                </a:solidFill>
              </a:rPr>
              <a:t>→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80176" y="340156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C8880"/>
                </a:solidFill>
              </a:rPr>
              <a:t>→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14816" y="340156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C8880"/>
                </a:solidFill>
              </a:rPr>
              <a:t>→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5715000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583387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C8880"/>
                </a:solidFill>
              </a:rPr>
              <a:t>Wait states pause the execution every 30s (demo) / 24h (production) — zero compute cost while waiting.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6172200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C8880"/>
                </a:solidFill>
              </a:rPr>
              <a:t>If a stage is incomplete after 3 reminders → marked Overdue → workflow fails gracefully.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EXECUTION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Live Execution Proof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Real AWS Step Functions execution — Arjun Sharma · EMP-4FEA92A3 · 2026-04-08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10512"/>
            <a:ext cx="11155680" cy="402336"/>
          </a:xfrm>
          <a:prstGeom prst="rect">
            <a:avLst/>
          </a:prstGeom>
          <a:solidFill>
            <a:srgbClr val="EBF3E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8470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C8880"/>
                </a:solidFill>
              </a:rPr>
              <a:t>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01168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E5A4D"/>
                </a:solidFill>
              </a:rPr>
              <a:t>✓  SUCCEEDED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18470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C8880"/>
                </a:solidFill>
              </a:rPr>
              <a:t>Duration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01168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E5A4D"/>
                </a:solidFill>
              </a:rPr>
              <a:t>66 seconds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8470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C8880"/>
                </a:solidFill>
              </a:rPr>
              <a:t>Stages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01168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E5A4D"/>
                </a:solidFill>
              </a:rPr>
              <a:t>4 / 4 complete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18470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C8880"/>
                </a:solidFill>
              </a:rPr>
              <a:t>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01168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E5A4D"/>
                </a:solidFill>
              </a:rPr>
              <a:t>15:11 – 15:12 IST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395728"/>
            <a:ext cx="11155680" cy="420624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48716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15:11:53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19072" y="2560320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74519" y="24871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A7C6B"/>
                </a:solidFill>
              </a:rPr>
              <a:t>DocumentCollection entered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2487168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Stage 1 starts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9077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15:11:54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19072" y="2980944"/>
            <a:ext cx="54864" cy="54864"/>
          </a:xfrm>
          <a:prstGeom prst="rect">
            <a:avLst/>
          </a:prstGeom>
          <a:solidFill>
            <a:srgbClr val="8C8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74519" y="29077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WaitForDocuments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2907792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30-second wait — documents uploading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236976"/>
            <a:ext cx="11155680" cy="420624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32841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19072" y="3401568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74519" y="33284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A7C6B"/>
                </a:solidFill>
              </a:rPr>
              <a:t>DocumentCollection  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6360" y="3328416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All 3 documents received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37490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15:12:25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19072" y="3822192"/>
            <a:ext cx="54864" cy="54864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74519" y="3749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7B2E"/>
                </a:solidFill>
              </a:rPr>
              <a:t>ITProvisioning entered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66360" y="374904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Stage 2 — Cognito user creation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078224"/>
            <a:ext cx="11155680" cy="420624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16966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15:12:27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19072" y="4242816"/>
            <a:ext cx="54864" cy="54864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74519" y="416966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7B2E"/>
                </a:solidFill>
              </a:rPr>
              <a:t>ITProvisioning  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66360" y="4169664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Cognito account created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459028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15:12:27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19072" y="4663440"/>
            <a:ext cx="54864" cy="54864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74519" y="45902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D6B9E"/>
                </a:solidFill>
              </a:rPr>
              <a:t>PolicySignoff entered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66360" y="4590288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Stage 3 — checks signed_at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919472"/>
            <a:ext cx="11155680" cy="420624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501091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15:12:27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19072" y="5084064"/>
            <a:ext cx="54864" cy="54864"/>
          </a:xfrm>
          <a:prstGeom prst="rect">
            <a:avLst/>
          </a:prstGeom>
          <a:solidFill>
            <a:srgbClr val="8C8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874519" y="501091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WaitForPolicySignoff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66360" y="5010912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30-second wait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543153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15:12:58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19072" y="5504688"/>
            <a:ext cx="54864" cy="54864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74519" y="54315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D6B9E"/>
                </a:solidFill>
              </a:rPr>
              <a:t>PolicySignoff  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66360" y="5431536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All 5 policies signed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760720"/>
            <a:ext cx="11155680" cy="420624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8368" y="58521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15:12:58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719072" y="5925312"/>
            <a:ext cx="54864" cy="54864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74519" y="5852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25042"/>
                </a:solidFill>
              </a:rPr>
              <a:t>ManagerIntro entered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66360" y="585216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Stage 4 — intro emails dispatched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8368" y="627278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15:12:59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719072" y="6345936"/>
            <a:ext cx="54864" cy="54864"/>
          </a:xfrm>
          <a:prstGeom prst="rect">
            <a:avLst/>
          </a:prstGeom>
          <a:solidFill>
            <a:srgbClr val="2E5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74519" y="62727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E5A4D"/>
                </a:solidFill>
              </a:rPr>
              <a:t>OnboardingComplete  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66360" y="6272784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EXECUTION SUCCEEDED — status → ACTIVE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651052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662025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8C8880"/>
                </a:solidFill>
              </a:rPr>
              <a:t>Open AWS Console → Step Functions → hrms-onboarding-workflow → Executions to see the visual graph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DEMO  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Demo Walkthrough — Part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New Hire Experience · follow these steps exactly during the presentation.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10512"/>
            <a:ext cx="11155680" cy="310896"/>
          </a:xfrm>
          <a:prstGeom prst="rect">
            <a:avLst/>
          </a:prstGeom>
          <a:solidFill>
            <a:srgbClr val="EBF3E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4708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E5A4D"/>
                </a:solidFill>
              </a:rPr>
              <a:t>App URL:  hrms-onboarding-frontend-dev.s3-website.ap-south-1.amazonaws.com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67712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26771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A1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26771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Open the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50545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Navigate to the URL above → splash animation plays → landing page shows two cards.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889504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88950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A2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89504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Enter New Hire Portal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12724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Click 'New Hire Portal' → another splash → Step 1 of 5 appears.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11296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511296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A3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511296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Fill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7490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First: Priya  ·  Last: Menon  ·  Email: priya.menon@example.com  ·  Dept: Engineering  ·  Role: Frontend Engineer  →  Continue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133088"/>
            <a:ext cx="329184" cy="329184"/>
          </a:xfrm>
          <a:prstGeom prst="rect">
            <a:avLst/>
          </a:prstGeom>
          <a:solidFill>
            <a:srgbClr val="FDF3E5"/>
          </a:solidFill>
          <a:ln w="12700">
            <a:solidFill>
              <a:srgbClr val="C97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13308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A4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33088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Upload Documents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70832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Click each of the 3 cards → upload any PDF → green Uploaded badge appears on each → Continue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754880"/>
            <a:ext cx="329184" cy="329184"/>
          </a:xfrm>
          <a:prstGeom prst="rect">
            <a:avLst/>
          </a:prstGeom>
          <a:solidFill>
            <a:srgbClr val="FDF3E5"/>
          </a:solidFill>
          <a:ln w="12700">
            <a:solidFill>
              <a:srgbClr val="C97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754880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A5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754880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Sign 5 Policies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992624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Check all 5 boxes one by one — watch the progress bar fill to 100% → Continue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376672"/>
            <a:ext cx="329184" cy="329184"/>
          </a:xfrm>
          <a:prstGeom prst="rect">
            <a:avLst/>
          </a:prstGeom>
          <a:solidFill>
            <a:srgbClr val="EBF1F8"/>
          </a:solidFill>
          <a:ln w="12700">
            <a:solidFill>
              <a:srgbClr val="3D6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37667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D6B9E"/>
                </a:solidFill>
              </a:rPr>
              <a:t>A6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37667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Manager Intro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61441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Type a note (optional): 'What does the first week look like?' → Submit &amp; Complete 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998464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99846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A7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5998464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Completion Screen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623620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Completion screen shows all stage badges. Click '← Back to Home'.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DEMO  B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Demo Walkthrough — Part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HR Admin Dashboard · PIN-gated · real-time pipeline view.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10512"/>
            <a:ext cx="11155680" cy="310896"/>
          </a:xfrm>
          <a:prstGeom prst="rect">
            <a:avLst/>
          </a:prstGeom>
          <a:solidFill>
            <a:srgbClr val="FDF3E5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4708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7B2E"/>
                </a:solidFill>
              </a:rPr>
              <a:t>HR PIN:  1234   (auto-unlocks on the 4th digit — no Enter needed · resets every navigation)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67712"/>
            <a:ext cx="329184" cy="329184"/>
          </a:xfrm>
          <a:prstGeom prst="rect">
            <a:avLst/>
          </a:prstGeom>
          <a:solidFill>
            <a:srgbClr val="FDF3E5"/>
          </a:solidFill>
          <a:ln w="12700">
            <a:solidFill>
              <a:srgbClr val="C97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26771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B1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26771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Open HR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50545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From landing page click 'HR Admin Dashboard' → splash → PIN gate appears.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889504"/>
            <a:ext cx="329184" cy="329184"/>
          </a:xfrm>
          <a:prstGeom prst="rect">
            <a:avLst/>
          </a:prstGeom>
          <a:solidFill>
            <a:srgbClr val="FDF3E5"/>
          </a:solidFill>
          <a:ln w="12700">
            <a:solidFill>
              <a:srgbClr val="C97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88950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B2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89504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Enter PIN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12724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Type 1-2-3-4 — on the 4th digit the screen fades out automatically. Dashboard fades in.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11296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511296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B3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511296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Stats Bar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7490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5 metric cards at top: Total · In Progress · Completed · Docs Pending · Avg Completion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133088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13308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B4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33088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Search for Your Hire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70832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Type 'Priya' in the search bar → table filters live to show Priya Menon's row.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754880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754880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B5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754880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Expand Detail Panel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992624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Click the row → panel slides open: 4 stages with timestamps + 3 document upload badges.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376672"/>
            <a:ext cx="329184" cy="329184"/>
          </a:xfrm>
          <a:prstGeom prst="rect">
            <a:avLst/>
          </a:prstGeom>
          <a:solidFill>
            <a:srgbClr val="EBF1F8"/>
          </a:solidFill>
          <a:ln w="12700">
            <a:solidFill>
              <a:srgbClr val="3D6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37667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D6B9E"/>
                </a:solidFill>
              </a:rPr>
              <a:t>B6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37667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Refresh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61441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Click Refresh button (top right) → spinner → data reloads from live API.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998464"/>
            <a:ext cx="329184" cy="329184"/>
          </a:xfrm>
          <a:prstGeom prst="rect">
            <a:avLst/>
          </a:prstGeom>
          <a:solidFill>
            <a:srgbClr val="EBF1F8"/>
          </a:solidFill>
          <a:ln w="12700">
            <a:solidFill>
              <a:srgbClr val="3D6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99846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D6B9E"/>
                </a:solidFill>
              </a:rPr>
              <a:t>B7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5998464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Status Filters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623620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Use filter pills: All · In Progress · Completed · Pending — each filters the 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D6B9E"/>
                </a:solidFill>
              </a:rPr>
              <a:t>DEMO  C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Demo Walkthrough — Part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AWS Console evidence — show evaluators the live backend.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74519"/>
            <a:ext cx="111556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874519"/>
            <a:ext cx="36576" cy="84124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874519"/>
            <a:ext cx="11155680" cy="292608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920239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C6B"/>
                </a:solidFill>
              </a:rPr>
              <a:t>C1  ·  Step Functions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203703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AWS Console → Step Functions → hrms-onboarding-workflow → Executions tab
Click latest SUCCEEDED → Graph view (all states green) → Events tab (full timeline)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07207"/>
            <a:ext cx="111556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807207"/>
            <a:ext cx="36576" cy="841248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807207"/>
            <a:ext cx="11155680" cy="292608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52927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D6B9E"/>
                </a:solidFill>
              </a:rPr>
              <a:t>C2  ·  DynamoDB — Employees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136391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DynamoDB → hrms-employees → Explore items → find your employee
Show: status = ACTIVE · cognito_user_id populated · all fields correct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39895"/>
            <a:ext cx="111556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739895"/>
            <a:ext cx="36576" cy="841248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739895"/>
            <a:ext cx="11155680" cy="292608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785615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D6B9E"/>
                </a:solidFill>
              </a:rPr>
              <a:t>C3  ·  DynamoDB — Stages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069079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DynamoDB → hrms-onboarding-stages → filter by workflow_id
Show: all 4 rows with status = COMPLETE and completed_at timestamps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672583"/>
            <a:ext cx="111556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672583"/>
            <a:ext cx="36576" cy="841248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672583"/>
            <a:ext cx="11155680" cy="292608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718303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7B2E"/>
                </a:solidFill>
              </a:rPr>
              <a:t>C4  ·  S3 — Documents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001767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S3 → hrms-onboarding-documents-736786104206-dev → documents/{employee_id}/
Show: 3 uploaded files — ID_PROOF · DEGREE_CERTIFICATE · OFFER_LETTER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605271"/>
            <a:ext cx="111556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5605271"/>
            <a:ext cx="36576" cy="841248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605271"/>
            <a:ext cx="11155680" cy="292608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50991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7B2E"/>
                </a:solidFill>
              </a:rPr>
              <a:t>C5  ·  S3 — Encryption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934455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S3 bucket → Properties → Default encryption → AES-256 server-side encryption enabled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COST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Cost Estimate — 50 Hires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AWS ap-south-1 pricing · April 2026 · all major services within free tier at this scale.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28800"/>
            <a:ext cx="11155680" cy="329184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836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18836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Monthly Usage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836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8836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Pricing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157984"/>
            <a:ext cx="111556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157984"/>
            <a:ext cx="36576" cy="493776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22677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Lambda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26771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750 invocations/mo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2677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26771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Covered by 1M free tier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651760"/>
            <a:ext cx="36576" cy="493776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7614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5852"/>
                </a:solidFill>
              </a:rPr>
              <a:t>Step Functions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27614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1,650 transitions/mo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27614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7614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First 4,000 free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145536"/>
            <a:ext cx="111556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145536"/>
            <a:ext cx="36576" cy="493776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32552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D6B9E"/>
                </a:solidFill>
              </a:rPr>
              <a:t>DynamoDB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34640" y="325526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~6,500 reads + writes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325526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25526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25GB always-free tier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639312"/>
            <a:ext cx="36576" cy="493776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7490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97B2E"/>
                </a:solidFill>
              </a:rPr>
              <a:t>S3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3749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75MB · 150 PUTs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37490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7"/>
                </a:solidFill>
              </a:rPr>
              <a:t>$0.004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749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$0.023/GB storage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133088"/>
            <a:ext cx="111556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4133088"/>
            <a:ext cx="36576" cy="493776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424281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42428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400 emails/mo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424281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7"/>
                </a:solidFill>
              </a:rPr>
              <a:t>$0.04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42428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$0.10 per 1,000 emails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626864"/>
            <a:ext cx="36576" cy="493776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7365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25042"/>
                </a:solidFill>
              </a:rPr>
              <a:t>Cognito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34640" y="47365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50 MAUs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0" y="47365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47365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First 50,000 MAU free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5120640"/>
            <a:ext cx="111556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2920" y="5120640"/>
            <a:ext cx="36576" cy="493776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52303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5852"/>
                </a:solidFill>
              </a:rPr>
              <a:t>SNS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34640" y="5230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50 notifications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2303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5230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First 1M free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5614416"/>
            <a:ext cx="36576" cy="493776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" y="57241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D6B9E"/>
                </a:solidFill>
              </a:rPr>
              <a:t>API Gateway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34640" y="572414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~200 requests/mo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17920" y="572414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7"/>
                </a:solidFill>
              </a:rPr>
              <a:t>$0.001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0" y="572414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$3.50 per million requests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6163056"/>
            <a:ext cx="11155680" cy="457200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623620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5A4D"/>
                </a:solidFill>
              </a:rPr>
              <a:t>Total monthly cost: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0" y="623620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5A4D"/>
                </a:solidFill>
              </a:rPr>
              <a:t>~$0.05 / month  (≈ ₹4)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0" y="627278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C8880"/>
                </a:solidFill>
              </a:rPr>
              <a:t>Scales to 5,000 hires/month for ~$5.00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645920"/>
            <a:ext cx="548640" cy="54864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5060" y="1766620"/>
            <a:ext cx="307238" cy="307238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872" y="16459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6858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1C1A17"/>
                </a:solidFill>
              </a:rPr>
              <a:t>From offer letter
to Day 1 login.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931920"/>
            <a:ext cx="1280160" cy="36576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1605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C5852"/>
                </a:solidFill>
              </a:rPr>
              <a:t>Fully automated. Fully serverless. Built on AWS.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46320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0749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C8880"/>
                </a:solidFill>
              </a:rPr>
              <a:t>Live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507492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</a:rPr>
              <a:t>hrms-onboarding-frontend-dev.s3-website.ap-south-1.amazonaws.com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45896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C8880"/>
                </a:solidFill>
              </a:rPr>
              <a:t>HR PIN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54589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</a:rPr>
              <a:t>1234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843016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C8880"/>
                </a:solidFill>
              </a:rPr>
              <a:t>Region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584301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</a:rPr>
              <a:t>ap-south-1  ·  Mumbai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22706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C8880"/>
                </a:solidFill>
              </a:rPr>
              <a:t>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622706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</a:rPr>
              <a:t>github.com/adil-khan-723/onboardiq-hrms-F13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0080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C8880"/>
                </a:solidFill>
              </a:rPr>
              <a:t>Thank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6459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Built with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2057400"/>
            <a:ext cx="3291840" cy="347472"/>
          </a:xfrm>
          <a:prstGeom prst="rect">
            <a:avLst/>
          </a:prstGeom>
          <a:solidFill>
            <a:srgbClr val="FDF3E5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2057400"/>
            <a:ext cx="36576" cy="347472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4192" y="212140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97B2E"/>
                </a:solidFill>
              </a:rPr>
              <a:t>AWS Lambda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532888"/>
            <a:ext cx="3291840" cy="347472"/>
          </a:xfrm>
          <a:prstGeom prst="rect">
            <a:avLst/>
          </a:prstGeom>
          <a:solidFill>
            <a:srgbClr val="EFEDE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2532888"/>
            <a:ext cx="36576" cy="347472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94192" y="259689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5852"/>
                </a:solidFill>
              </a:rPr>
              <a:t>Step Functions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3008376"/>
            <a:ext cx="3291840" cy="347472"/>
          </a:xfrm>
          <a:prstGeom prst="rect">
            <a:avLst/>
          </a:prstGeom>
          <a:solidFill>
            <a:srgbClr val="EBF1F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3008376"/>
            <a:ext cx="36576" cy="347472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94192" y="307238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D6B9E"/>
                </a:solidFill>
              </a:rPr>
              <a:t>DynamoDB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3483864"/>
            <a:ext cx="3291840" cy="347472"/>
          </a:xfrm>
          <a:prstGeom prst="rect">
            <a:avLst/>
          </a:prstGeom>
          <a:solidFill>
            <a:srgbClr val="EBF3EF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0" y="3483864"/>
            <a:ext cx="36576" cy="347472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94192" y="354787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S3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3959352"/>
            <a:ext cx="3291840" cy="347472"/>
          </a:xfrm>
          <a:prstGeom prst="rect">
            <a:avLst/>
          </a:prstGeom>
          <a:solidFill>
            <a:srgbClr val="FBF0EE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29600" y="3959352"/>
            <a:ext cx="36576" cy="347472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94192" y="402336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25042"/>
                </a:solidFill>
              </a:rPr>
              <a:t>Cognito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4434840"/>
            <a:ext cx="3291840" cy="347472"/>
          </a:xfrm>
          <a:prstGeom prst="rect">
            <a:avLst/>
          </a:prstGeom>
          <a:solidFill>
            <a:srgbClr val="FDF3E5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0" y="4434840"/>
            <a:ext cx="36576" cy="347472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94192" y="449884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97B2E"/>
                </a:solidFill>
              </a:rPr>
              <a:t>SES  ·  SNS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4910328"/>
            <a:ext cx="3291840" cy="347472"/>
          </a:xfrm>
          <a:prstGeom prst="rect">
            <a:avLst/>
          </a:prstGeom>
          <a:solidFill>
            <a:srgbClr val="EBF1F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29600" y="4910328"/>
            <a:ext cx="36576" cy="347472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94192" y="497433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D6B9E"/>
                </a:solidFill>
              </a:rPr>
              <a:t>API Gateway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5385816"/>
            <a:ext cx="3291840" cy="347472"/>
          </a:xfrm>
          <a:prstGeom prst="rect">
            <a:avLst/>
          </a:prstGeom>
          <a:solidFill>
            <a:srgbClr val="EBF3EF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600" y="5385816"/>
            <a:ext cx="36576" cy="347472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94192" y="54498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React 18 + Vite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0" y="5861304"/>
            <a:ext cx="3291840" cy="347472"/>
          </a:xfrm>
          <a:prstGeom prst="rect">
            <a:avLst/>
          </a:prstGeom>
          <a:solidFill>
            <a:srgbClr val="EFEDE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9600" y="5861304"/>
            <a:ext cx="36576" cy="347472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94192" y="592531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5852"/>
                </a:solidFill>
              </a:rPr>
              <a:t>AWS SAM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DEMO  OBS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Demo Walkthrough — Observability &amp;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Requirement 2 · follow these steps exactly during the presentation.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10512"/>
            <a:ext cx="11155680" cy="310896"/>
          </a:xfrm>
          <a:prstGeom prst="rect">
            <a:avLst/>
          </a:prstGeom>
          <a:solidFill>
            <a:srgbClr val="EBF3E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4708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5A4D"/>
                </a:solidFill>
              </a:rPr>
              <a:t>Key line:  Every change — X-Ray, alarms, IAM hardening — is infrastructure as code in template.yaml. One sam deploy applies everything.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67712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26771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O1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267712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X-Ray Service 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487168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5852"/>
                </a:solidFill>
              </a:rPr>
              <a:t>AWS Console → X-Ray → Service Map · Click any Lambda node → show trace with latency + downstream calls.
Say: 'Active tracing on all 10 Lambdas via SAM Globals — zero code changes required.'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871216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871216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O2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71216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CloudWatch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090672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5852"/>
                </a:solidFill>
              </a:rPr>
              <a:t>CloudWatch → Dashboards → hrms-onboarding-observability · Point to 4 widgets: invocations, errors, p99 duration, alarm status.
Say: 'One unified dashboard — built as IaC, deploys automatically with sam deploy.'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474720"/>
            <a:ext cx="329184" cy="329184"/>
          </a:xfrm>
          <a:prstGeom prst="rect">
            <a:avLst/>
          </a:prstGeom>
          <a:solidFill>
            <a:srgbClr val="FBF0EE"/>
          </a:solidFill>
          <a:ln w="12700">
            <a:solidFill>
              <a:srgbClr val="C25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474720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25042"/>
                </a:solidFill>
              </a:rPr>
              <a:t>O3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474720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Trigger Alarm Live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694176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5852"/>
                </a:solidFill>
              </a:rPr>
              <a:t>Lambda → hrms-alarm-simulation → Test (empty JSON {}) · Switch to CloudWatch → Alarms → watch flip to ALARM (red) in 60s.
Say: '12 alarms defined — error rate &gt;5% and p99 &gt;3s per function, all wired to SNS.'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078224"/>
            <a:ext cx="329184" cy="329184"/>
          </a:xfrm>
          <a:prstGeom prst="rect">
            <a:avLst/>
          </a:prstGeom>
          <a:solidFill>
            <a:srgbClr val="FDF3E5"/>
          </a:solidFill>
          <a:ln w="12700">
            <a:solidFill>
              <a:srgbClr val="C97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07822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O4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07822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Show SNS Email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297680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5852"/>
                </a:solidFill>
              </a:rPr>
              <a:t>Open adilk81054@gmail.com → show alarm email: state OK → ALARM, threshold crossed, SNS topic hrms-hr-notifications.
Say: 'Alert delivered to team email automatically — no manual monitoring needed.'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681728"/>
            <a:ext cx="329184" cy="329184"/>
          </a:xfrm>
          <a:prstGeom prst="rect">
            <a:avLst/>
          </a:prstGeom>
          <a:solidFill>
            <a:srgbClr val="EBF1F8"/>
          </a:solidFill>
          <a:ln w="12700">
            <a:solidFill>
              <a:srgbClr val="3D6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68172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D6B9E"/>
                </a:solidFill>
              </a:rPr>
              <a:t>O5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681728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IAM Hardening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90118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5852"/>
                </a:solidFill>
              </a:rPr>
              <a:t>IAM → Roles → hrms-stage-document-collection-* → show SES resource: arn:aws:ses:&lt;region&gt;:&lt;account&gt;:identity/* not '*'.
Say: 'Scoped SES from wildcard to account-specific identity ARN across all 7 Lambdas.'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285232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28523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O6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285232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Security Posture Check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504688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5852"/>
                </a:solidFill>
              </a:rPr>
              <a:t>S3 bucket → Properties → encryption AES-256 ✓ · Public access → all 4 blocked ✓ · DynamoDB → table → SSEEnabled ✓
Say: 'Encryption at rest, public access blocked, HTTPS-only bucket policy — all in template.yaml.'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888736"/>
            <a:ext cx="329184" cy="329184"/>
          </a:xfrm>
          <a:prstGeom prst="rect">
            <a:avLst/>
          </a:prstGeom>
          <a:solidFill>
            <a:srgbClr val="EFEDE8"/>
          </a:solidFill>
          <a:ln w="12700">
            <a:solidFill>
              <a:srgbClr val="5C5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888736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5C5852"/>
                </a:solidFill>
              </a:rPr>
              <a:t>O7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5888736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Trusted Advisor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6108192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5852"/>
                </a:solidFill>
              </a:rPr>
              <a:t>AWS Console → Trusted Advisor → show 0 critical findings screenshot.
Say: 'Free checks passed. Full suite needs Business plan — but the security posture is clean.'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OBSERVABILITY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CloudWatch Dashboard —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hrms-onboarding-observability · 4 widgets · all Lambda functions · ap-south-1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11155680" cy="46634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92240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A7C6B"/>
                </a:solidFill>
              </a:rPr>
              <a:t>Dashboard: Lambda Invocations · Lambda Errors · p99 Duration · Active Alarms — all 12 alarms green except demo alarm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25042"/>
                </a:solidFill>
              </a:rPr>
              <a:t>ALARM DEMO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Triggered Alarm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hrms-alarm-simulation-error-rate · ALARM state · 6 deliberate errors fired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l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11155680" cy="46634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92240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25042"/>
                </a:solidFill>
              </a:rPr>
              <a:t>Alarm triggered at 21:30 IST · 6 errors &gt; threshold of 1 · state: OK → ALARM · SNS email dispatched automatically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ALERT EMAIL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SNS Alarm Email — Received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AWS CloudWatch → SNS → adilk81054@gmail.com · state change OK → ALARM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m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11155680" cy="46634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92240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97B2E"/>
                </a:solidFill>
              </a:rPr>
              <a:t>Email received at 16:24:21 UTC · Alarm: hrms-alarm-simulation-error-rate · SNS Topic: hrms-hr-notifications · Account: 736786104206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SECURITY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AWS Trusted Advisor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Free checks run — 0 critical findings · all security posture checks passed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rus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11155680" cy="46634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92240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A7C6B"/>
                </a:solidFill>
              </a:rPr>
              <a:t>Basic support plan: full check suite requires Business/Enterprise plan · S3 public access blocked · DynamoDB SSE enabled · IAM scoped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25042"/>
                </a:solidFill>
              </a:rPr>
              <a:t>IAM AUDIT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IAM Security Hardening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Before &amp; after — SES permissions scoped across all Lambda functions.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28800"/>
            <a:ext cx="5394960" cy="329184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74519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5042"/>
                </a:solidFill>
              </a:rPr>
              <a:t>BEFORE  —  Overly broad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3113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231136"/>
            <a:ext cx="36576" cy="47548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26771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hrms-stage-document-collection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46888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25042"/>
                </a:solidFill>
              </a:rPr>
              <a:t>ses:SendEmail / ses:SendRawEmail  ·  Resource: '*'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77977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779776"/>
            <a:ext cx="36576" cy="47548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281635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hrms-create-employee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01752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25042"/>
                </a:solidFill>
              </a:rPr>
              <a:t>ses:SendEmail / ses:SendRawEmail  ·  Resource: '*'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32841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328416"/>
            <a:ext cx="36576" cy="47548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36499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hrms-stage-it-provisioning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56616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25042"/>
                </a:solidFill>
              </a:rPr>
              <a:t>ses:SendEmail / ses:SendRawEmail  ·  Resource: '*'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87705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877056"/>
            <a:ext cx="36576" cy="47548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91363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hrms-stage-policy-signoff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411480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25042"/>
                </a:solidFill>
              </a:rPr>
              <a:t>ses:SendEmail / ses:SendRawEmail  ·  Resource: '*'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42569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425696"/>
            <a:ext cx="36576" cy="47548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46227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hrms-stage-manager-intro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466344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25042"/>
                </a:solidFill>
              </a:rPr>
              <a:t>ses:SendEmail / ses:SendRawEmail  ·  Resource: '*'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97433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4974336"/>
            <a:ext cx="36576" cy="47548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501091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hrms-send-reminder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521208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25042"/>
                </a:solidFill>
              </a:rPr>
              <a:t>ses:SendEmail / ses:SendRawEmail  ·  Resource: '*'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52297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522976"/>
            <a:ext cx="36576" cy="47548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55955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hrms-document-upload-trigger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76072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25042"/>
                </a:solidFill>
              </a:rPr>
              <a:t>ses:SendEmail / ses:SendRawEmail  ·  Resource: '*'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1828800"/>
            <a:ext cx="5394960" cy="329184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19088" y="1874519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5A4D"/>
                </a:solidFill>
              </a:rPr>
              <a:t>AFTER  —  Least privilege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223113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2231136"/>
            <a:ext cx="36576" cy="47548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19088" y="226771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hrms-stage-document-collection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9088" y="246888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A4D"/>
                </a:solidFill>
              </a:rPr>
              <a:t>ses:SendEmail / ses:SendRawEmail  ·  arn:aws:ses:&lt;region&gt;:&lt;account&gt;:identity/*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277977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63640" y="2779776"/>
            <a:ext cx="36576" cy="47548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9088" y="281635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hrms-create-employee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9088" y="301752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A4D"/>
                </a:solidFill>
              </a:rPr>
              <a:t>ses:SendEmail / ses:SendRawEmail  ·  arn:aws:ses:&lt;region&gt;:&lt;account&gt;:identity/*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332841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63640" y="3328416"/>
            <a:ext cx="36576" cy="47548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19088" y="336499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hrms-stage-it-provisioning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19088" y="356616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A4D"/>
                </a:solidFill>
              </a:rPr>
              <a:t>ses:SendEmail / ses:SendRawEmail  ·  arn:aws:ses:&lt;region&gt;:&lt;account&gt;:identity/*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387705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63640" y="3877056"/>
            <a:ext cx="36576" cy="47548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19088" y="391363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hrms-stage-policy-signoff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19088" y="411480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A4D"/>
                </a:solidFill>
              </a:rPr>
              <a:t>ses:SendEmail / ses:SendRawEmail  ·  arn:aws:ses:&lt;region&gt;:&lt;account&gt;:identity/*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63640" y="442569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63640" y="4425696"/>
            <a:ext cx="36576" cy="47548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9088" y="446227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hrms-stage-manager-intro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19088" y="466344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A4D"/>
                </a:solidFill>
              </a:rPr>
              <a:t>ses:SendEmail / ses:SendRawEmail  ·  arn:aws:ses:&lt;region&gt;:&lt;account&gt;:identity/*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63640" y="497433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63640" y="4974336"/>
            <a:ext cx="36576" cy="47548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19088" y="501091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hrms-send-reminder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19088" y="521208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A4D"/>
                </a:solidFill>
              </a:rPr>
              <a:t>ses:SendEmail / ses:SendRawEmail  ·  arn:aws:ses:&lt;region&gt;:&lt;account&gt;:identity/*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63640" y="5522976"/>
            <a:ext cx="53949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5522976"/>
            <a:ext cx="36576" cy="47548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19088" y="555955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A17"/>
                </a:solidFill>
              </a:rPr>
              <a:t>hrms-document-upload-trigger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19088" y="576072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A4D"/>
                </a:solidFill>
              </a:rPr>
              <a:t>ses:SendEmail / ses:SendRawEmail  ·  arn:aws:ses:&lt;region&gt;:&lt;account&gt;:identity/*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2920" y="6126480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02920" y="6236208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C8880"/>
                </a:solidFill>
              </a:rPr>
              <a:t>Also added: xray:PutTraceSegments + xray:PutTelemetryRecords on all Lambdas · Cognito + Step Functions were already resource-scoped ✓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COST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Cost Estimate — 50 Users /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All services itemised · ap-south-1 · April 2026 · includes observability layer.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28800"/>
            <a:ext cx="11155680" cy="310896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74519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874519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Monthly Usage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874519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874519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Pricing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139696"/>
            <a:ext cx="11155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139696"/>
            <a:ext cx="36576" cy="438912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223113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C6B"/>
                </a:solidFill>
              </a:rPr>
              <a:t>Lambda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2231136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31,000 invocations/mo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231136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2231136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Within 400K GB-s free tier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578608"/>
            <a:ext cx="36576" cy="438912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67004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D6B9E"/>
                </a:solidFill>
              </a:rPr>
              <a:t>API Gateway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67004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~4,650 requests/mo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267004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$0.02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267004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$3.50 per million requests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017520"/>
            <a:ext cx="11155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017520"/>
            <a:ext cx="36576" cy="438912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310896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D6B9E"/>
                </a:solidFill>
              </a:rPr>
              <a:t>DynamoDB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310896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~231K reads + writes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310896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$0.42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310896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On-demand · SSE enabled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456432"/>
            <a:ext cx="36576" cy="438912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54787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7B2E"/>
                </a:solidFill>
              </a:rPr>
              <a:t>S3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354787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150 uploads · 300MB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354787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$0.01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547872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$0.025/GB · versioning 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895344"/>
            <a:ext cx="11155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3895344"/>
            <a:ext cx="36576" cy="438912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C6B"/>
                </a:solidFill>
              </a:rPr>
              <a:t>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3986784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12,000 emails/mo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398678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$1.20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3986784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$0.10 per 1,000 emails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334256"/>
            <a:ext cx="36576" cy="438912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42569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5042"/>
                </a:solidFill>
              </a:rPr>
              <a:t>Cognito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0" y="4425696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50 MAUs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4425696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63840" y="4425696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First 50,000 MAU free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773168"/>
            <a:ext cx="11155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2920" y="4773168"/>
            <a:ext cx="36576" cy="438912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486460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5852"/>
                </a:solidFill>
              </a:rPr>
              <a:t>Step Functions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43200" y="486460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30,000 transitions/mo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5040" y="486460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$0.65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486460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$0.000025 per transition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5212080"/>
            <a:ext cx="36576" cy="438912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" y="530352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7B2E"/>
                </a:solidFill>
              </a:rPr>
              <a:t>CloudWatch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43200" y="530352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Logs + Dashboard + Alarms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35040" y="530352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$4.45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530352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 dashboard $3 · 12 alarms $1.20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5650992"/>
            <a:ext cx="11155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2920" y="5650992"/>
            <a:ext cx="36576" cy="438912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8368" y="574243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C6B"/>
                </a:solidFill>
              </a:rPr>
              <a:t>X-Ray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0" y="574243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31,000 traces/mo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35040" y="574243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63840" y="5742432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Within 100K free-tier traces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6089904"/>
            <a:ext cx="36576" cy="438912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618134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5852"/>
                </a:solidFill>
              </a:rPr>
              <a:t>SNS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0" y="6181344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~200 notifications/mo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0" y="618134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3840" y="6181344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First 1M free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2920" y="6437376"/>
            <a:ext cx="11155680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8368" y="6510528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5A4D"/>
                </a:solidFill>
              </a:rPr>
              <a:t>Total monthly cost at 50 users/day: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0" y="64922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A4D"/>
                </a:solidFill>
              </a:rPr>
              <a:t>~$6.75 / month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44000" y="6528816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C8880"/>
                </a:solidFill>
              </a:rPr>
              <a:t>X-Ray + CloudWatch observability included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