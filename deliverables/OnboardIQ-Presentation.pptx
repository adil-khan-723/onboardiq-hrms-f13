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46720" y="0"/>
            <a:ext cx="4142232" cy="685800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5002" y="1482242"/>
            <a:ext cx="281635" cy="281635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1371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7315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1C1A17"/>
                </a:solidFill>
              </a:rPr>
              <a:t>Smart Employee
Onboarding &amp;
Identity 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4407408"/>
            <a:ext cx="1005840" cy="365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C5852"/>
                </a:solidFill>
              </a:rPr>
              <a:t>From offer letter acceptance to Day 1 login — fully automated on AWS.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5349240"/>
            <a:ext cx="1197864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349240"/>
            <a:ext cx="1197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E5A4D"/>
                </a:solidFill>
              </a:rPr>
              <a:t>React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5349240"/>
            <a:ext cx="1417320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1952" y="534924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97B2E"/>
                </a:solidFill>
              </a:rPr>
              <a:t>AWS Lambda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5349240"/>
            <a:ext cx="1856232" cy="25603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5349240"/>
            <a:ext cx="1856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D6B9E"/>
                </a:solidFill>
              </a:rPr>
              <a:t>Step Functions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5349240"/>
            <a:ext cx="1197864" cy="256032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5349240"/>
            <a:ext cx="1197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5C5852"/>
                </a:solidFill>
              </a:rPr>
              <a:t>DynamoDB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02552" y="5349240"/>
            <a:ext cx="1088136" cy="25603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5349240"/>
            <a:ext cx="1088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828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C8880"/>
                </a:solidFill>
              </a:rPr>
              <a:t>Internship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2860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A17"/>
                </a:solidFill>
              </a:rPr>
              <a:t>AWS Serverless
Full Stack Application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3236976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31546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9 Lambda Functions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3675888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7072" y="35935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4 DynamoDB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4114800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77072" y="40325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Step Functions Workflow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455371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7072" y="44714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React Frontend on 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0749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Region: ap-south-1 (Mumbai)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PROBLEM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The Problem We're Solving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Traditional employee onboarding is manual, fragmented, and slow.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5394960" cy="34747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1865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5042"/>
                </a:solidFill>
              </a:rPr>
              <a:t>Before OnboardIQ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33172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" y="2551176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244144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HR manually emails every new hire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990088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" y="3209544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309981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Documents collected over WhatsApp or email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648456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" y="3867912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" y="375818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No visibility into who completed what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06824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" y="4526280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" y="441655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IT provisions accounts days late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965192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" y="5184648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50749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Managers forget to greet new hires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2356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512" y="5843016"/>
            <a:ext cx="64008" cy="6400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" y="573328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No audit trail or compliance record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28800"/>
            <a:ext cx="539496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8232" y="1865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5A4D"/>
                </a:solidFill>
              </a:rPr>
              <a:t>With OnboardIQ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233172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28232" y="255117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92824" y="244144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Automated emails triggered by workflow engine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990088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8232" y="3209544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92824" y="3099816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Secure encrypted S3 upload portal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648456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28232" y="3867912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2824" y="375818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Real-time HR dashboard with stage tracking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4306824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28232" y="4526280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92824" y="441655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Cognito account created automatically on submit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4965192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28232" y="5184648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92824" y="50749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Manager introduction email sent on joining date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5623560"/>
            <a:ext cx="5394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28232" y="584301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573328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5852"/>
                </a:solidFill>
              </a:rPr>
              <a:t>Every action timestamped in DynamoDB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628192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640080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8C8880"/>
                </a:solidFill>
              </a:rPr>
              <a:t>OnboardIQ replaces all manual steps with a single AWS Step Functions workflow.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What OnboardIQ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Two portals. One automated pipeline. Zero manual steps.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28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A4D"/>
                </a:solidFill>
              </a:rPr>
              <a:t>New Hire Portal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04288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042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0428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Fill in your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54203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Name · Role · Department · Joining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54096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5409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54096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Upload 3 documents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29184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ID Proof · Degree Certificate · Offer Letter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03904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8039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03904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Sign 5 policies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041648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Progress bar fills as each policy is acknowledged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553712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553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5537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Manager intro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91456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Optional message to your reporting manager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303520"/>
            <a:ext cx="329184" cy="32918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30352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0352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</a:rPr>
              <a:t>Done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541264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Credentials arrive in your email inbox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1810512"/>
            <a:ext cx="12700" cy="484632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8288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A17"/>
                </a:solidFill>
              </a:rPr>
              <a:t>AWS Does Automatically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241401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230428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Employee record created in DynamoDB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2907792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27980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Step Functions execution starts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3401568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329184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S3 validates each document upload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895344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78561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Cognito account provisioned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389120"/>
            <a:ext cx="64008" cy="6400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427939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Credentials emailed via SES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882896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19088" y="47731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Policy sign-off timestamped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5376672"/>
            <a:ext cx="64008" cy="6400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19088" y="526694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Manager intro email sent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5870448"/>
            <a:ext cx="64008" cy="64008"/>
          </a:xfrm>
          <a:prstGeom prst="rect">
            <a:avLst/>
          </a:prstGeom>
          <a:solidFill>
            <a:srgbClr val="2E5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9088" y="576072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C5852"/>
                </a:solidFill>
              </a:rPr>
              <a:t>Employee status → ACTIVE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System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Fully serverless — no servers to manage, maintain, or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11155680" cy="658368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36576" cy="65836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0195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15798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React 18 + Vite · Hosted on S3 Static Website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51760"/>
            <a:ext cx="11155680" cy="658368"/>
          </a:xfrm>
          <a:prstGeom prst="rect">
            <a:avLst/>
          </a:prstGeom>
          <a:solidFill>
            <a:srgbClr val="EBF1F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651760"/>
            <a:ext cx="36576" cy="65836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72491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98094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REST API · CORS enabled · Routes to Lambda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74720"/>
            <a:ext cx="11155680" cy="658368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36576" cy="65836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5478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Lambda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0390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9 Functions · Node.js 20 · ARM64 · 256MB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297680"/>
            <a:ext cx="11155680" cy="658368"/>
          </a:xfrm>
          <a:prstGeom prst="rect">
            <a:avLst/>
          </a:prstGeom>
          <a:solidFill>
            <a:srgbClr val="EFEDE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97680"/>
            <a:ext cx="36576" cy="658368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37083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626864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4-stage state machine: Doc → IT → Policy → Manager Intro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248716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C8880"/>
                </a:solidFill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3101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C8880"/>
                </a:solidFill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413308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C8880"/>
                </a:solidFill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74920"/>
            <a:ext cx="11155680" cy="54864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19379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C8880"/>
                </a:solidFill>
              </a:rPr>
              <a:t>DATA LAYER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468112"/>
            <a:ext cx="2084831" cy="896112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468112"/>
            <a:ext cx="36576" cy="8961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DynamoDB
4 Tables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52344" y="5468112"/>
            <a:ext cx="2084831" cy="896112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52344" y="5468112"/>
            <a:ext cx="36576" cy="8961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936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S3 Bucket
Encrypted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01768" y="5468112"/>
            <a:ext cx="2084831" cy="896112"/>
          </a:xfrm>
          <a:prstGeom prst="rect">
            <a:avLst/>
          </a:prstGeom>
          <a:solidFill>
            <a:srgbClr val="EBF1F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01768" y="5468112"/>
            <a:ext cx="36576" cy="89611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66360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Cognito
User Pool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51192" y="5468112"/>
            <a:ext cx="2084831" cy="896112"/>
          </a:xfrm>
          <a:prstGeom prst="rect">
            <a:avLst/>
          </a:prstGeom>
          <a:solidFill>
            <a:srgbClr val="EFEDE8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51192" y="5468112"/>
            <a:ext cx="36576" cy="89611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15784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SES
Email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00616" y="5468112"/>
            <a:ext cx="2084831" cy="896112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500616" y="5468112"/>
            <a:ext cx="36576" cy="89611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65208" y="5559552"/>
            <a:ext cx="1828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SNS
Alerts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9224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8C8880"/>
                </a:solidFill>
              </a:rPr>
              <a:t>Infrastructure as Code: AWS SAM + CloudFormation · Stack: hrms-onboarding-stack · ap-south-1 (Mumbai)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SERVICES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AWS Services 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9 managed services — zero servers to provision or maintain.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36576" cy="12984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3611880" cy="34747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193852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7B2E"/>
                </a:solidFill>
              </a:rPr>
              <a:t>Lambda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35000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9 functions · Node.js 20 · ARM64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87451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1874519"/>
            <a:ext cx="36576" cy="1298448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1874519"/>
            <a:ext cx="3611880" cy="347472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193852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35000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4-stage orchestration state machine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87451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1874519"/>
            <a:ext cx="36576" cy="12984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874519"/>
            <a:ext cx="3611880" cy="34747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2" y="193852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2" y="235000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4 tables · 3 GSIs · pay-per-request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755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337559"/>
            <a:ext cx="36576" cy="129844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337559"/>
            <a:ext cx="361188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340156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C6B"/>
                </a:solidFill>
              </a:rP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381304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Encrypted document storage + static hosting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33755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0" y="3337559"/>
            <a:ext cx="36576" cy="1298448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97680" y="3337559"/>
            <a:ext cx="3611880" cy="34747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340156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2272" y="381304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User pool · auto-provisions new hire accounts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2440" y="333755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2440" y="3337559"/>
            <a:ext cx="36576" cy="12984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2440" y="3337559"/>
            <a:ext cx="3611880" cy="34747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57032" y="340156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7B2E"/>
                </a:solidFill>
              </a:rPr>
              <a:t>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2" y="381304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Transactional emails — welcome, reminders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80059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800599"/>
            <a:ext cx="36576" cy="129844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4800599"/>
            <a:ext cx="361188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8646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C6B"/>
                </a:solidFill>
              </a:rPr>
              <a:t>SNS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" y="527608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HR team alerts when all documents received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7680" y="480059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7680" y="4800599"/>
            <a:ext cx="36576" cy="12984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97680" y="4800599"/>
            <a:ext cx="3611880" cy="34747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62272" y="48646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62272" y="527608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REST API routing all frontend requests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4800599"/>
            <a:ext cx="361188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92440" y="4800599"/>
            <a:ext cx="36576" cy="1298448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2440" y="4800599"/>
            <a:ext cx="3611880" cy="347472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57032" y="48646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C5852"/>
                </a:solidFill>
              </a:rPr>
              <a:t>SAM / CF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57032" y="5276087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Full infra as code · one-command deploy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ER DIAGRAM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Database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Amazon DynamoDB · 4 tables · 3 Global Secondary Indexes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283464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2834640" cy="34747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36576" cy="443484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19293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C6B"/>
                </a:solidFill>
              </a:rPr>
              <a:t>hrms-employees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21991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224027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employee_id  PK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24963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first_name, last_name, full_name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27706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044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phone, department, 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331927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employment_type, joining_date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" y="359359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manager_id  →  FK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38679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cognito_user_id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" y="41422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status  (ONBOARDING / ACTIVE)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4165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created_at, updated_at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1874519"/>
            <a:ext cx="28346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0" y="1874519"/>
            <a:ext cx="2834640" cy="34747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1874519"/>
            <a:ext cx="36576" cy="292608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85616" y="19293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7B2E"/>
                </a:solidFill>
              </a:rPr>
              <a:t>hrms-onboarding-workflows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2221991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85616" y="224027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workflow_id  PK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85616" y="24963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employee_id  GSI →  FK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85616" y="27706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execution_arn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85616" y="3044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current_stage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85616" y="331927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overall_status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85616" y="359359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reminder_attempt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85616" y="38679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started_at, updated_at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5029200"/>
            <a:ext cx="283464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0" y="5029200"/>
            <a:ext cx="2834640" cy="34747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0" y="5029200"/>
            <a:ext cx="36576" cy="162763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85616" y="508406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D6B9E"/>
                </a:solidFill>
              </a:rPr>
              <a:t>hrms-onboarding-stages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0" y="5376672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39496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stage_id  PK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85616" y="5650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workflow_id  GSI →  FK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85616" y="592531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stage_name, 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85616" y="61996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signed_at, completed_at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12280" y="1874519"/>
            <a:ext cx="2834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12280" y="1874519"/>
            <a:ext cx="2834640" cy="347472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12280" y="1874519"/>
            <a:ext cx="36576" cy="4023360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0296" y="19293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25042"/>
                </a:solidFill>
              </a:rPr>
              <a:t>hrms-documents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2221991"/>
            <a:ext cx="2834640" cy="27432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0296" y="224027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🔑  document_id  PK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0296" y="24963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D6B9E"/>
                </a:solidFill>
              </a:rPr>
              <a:t>employee_id  GSI →  FK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0296" y="27706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doc_type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0296" y="30449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status  (PENDING / UPLOADED)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0296" y="331927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s3_key, content_type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0296" y="359359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verified  (boolean)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0296" y="386791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validation_errors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0296" y="414223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852"/>
                </a:solidFill>
              </a:rPr>
              <a:t>uploaded_at, updated_at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64992" y="2880360"/>
            <a:ext cx="658368" cy="219456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4992" y="2880360"/>
            <a:ext cx="658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C5852"/>
                </a:solidFill>
              </a:rPr>
              <a:t>1 → 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28816" y="2880360"/>
            <a:ext cx="658368" cy="219456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28816" y="2880360"/>
            <a:ext cx="658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C5852"/>
                </a:solidFill>
              </a:rPr>
              <a:t>1 → many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4840" y="4773168"/>
            <a:ext cx="658368" cy="219456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34840" y="4773168"/>
            <a:ext cx="658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C5852"/>
                </a:solidFill>
              </a:rPr>
              <a:t>1 → 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649224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C8880"/>
                </a:solidFill>
              </a:rPr>
              <a:t>↺ manager_id self-joins back to employee_id for org hierarchy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0" y="6492240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1">
                <a:solidFill>
                  <a:srgbClr val="8C8880"/>
                </a:solidFill>
              </a:rPr>
              <a:t>Paste the Mermaid diagram in deliverables/02-er-diagram.md at mermaid.live for a rendered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WORKFLOW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The Onboarding Workflow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Step Functions — event-driven, auditable, no servers polling.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2633472" cy="310896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36576" cy="3749039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A7C6B"/>
                </a:solidFill>
              </a:rPr>
              <a:t>Stage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Document
Collection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" y="309067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Checks DynamoDB for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" y="345643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all 3 uploads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3822192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Retries up to 3×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5285232"/>
            <a:ext cx="1719072" cy="237744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4A7C6B"/>
                </a:solidFill>
              </a:rPr>
              <a:t>✓  COMPLETE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7560" y="1874519"/>
            <a:ext cx="2633472" cy="310896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37560" y="1874519"/>
            <a:ext cx="36576" cy="3749039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386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7B2E"/>
                </a:solidFill>
              </a:rPr>
              <a:t>Stage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8386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IT
Provisioning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83864" y="309067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016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Creates Cognito user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83864" y="345643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Emails temp credentials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3864" y="382219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3016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via 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5285232"/>
            <a:ext cx="1719072" cy="237744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9476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97B2E"/>
                </a:solidFill>
              </a:rPr>
              <a:t>✓  COMPLETE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72200" y="1874519"/>
            <a:ext cx="2633472" cy="310896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1874519"/>
            <a:ext cx="36576" cy="3749039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850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6B9E"/>
                </a:solidFill>
              </a:rPr>
              <a:t>Stage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Policy
Sign-off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18504" y="3090672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480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Checks signed_at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18504" y="3456432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timestamp in DynamoDB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18504" y="3822192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for 5 policies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5285232"/>
            <a:ext cx="1719072" cy="237744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3D6B9E"/>
                </a:solidFill>
              </a:rPr>
              <a:t>✓  COMPLETE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06840" y="1874519"/>
            <a:ext cx="2633472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06840" y="1874519"/>
            <a:ext cx="2633472" cy="310896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06840" y="1874519"/>
            <a:ext cx="36576" cy="3749039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53144" y="1920240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25042"/>
                </a:solidFill>
              </a:rPr>
              <a:t>Stage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53144" y="22402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A17"/>
                </a:solidFill>
              </a:rPr>
              <a:t>Manager
Intro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53144" y="309067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99448" y="299923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Emails new hire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53144" y="345643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99448" y="336499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Emails manager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53144" y="382219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37307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C5852"/>
                </a:solidFill>
              </a:rPr>
              <a:t>Status → ACTIVE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64040" y="5285232"/>
            <a:ext cx="1719072" cy="237744"/>
          </a:xfrm>
          <a:prstGeom prst="rect">
            <a:avLst/>
          </a:prstGeom>
          <a:solidFill>
            <a:srgbClr val="FB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64040" y="5285232"/>
            <a:ext cx="17190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25042"/>
                </a:solidFill>
              </a:rPr>
              <a:t>✓  COMPLETE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45536" y="34015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C8880"/>
                </a:solidFill>
              </a:rPr>
              <a:t>→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0176" y="34015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C8880"/>
                </a:solidFill>
              </a:rPr>
              <a:t>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14816" y="34015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C8880"/>
                </a:solidFill>
              </a:rPr>
              <a:t>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5715000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583387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C8880"/>
                </a:solidFill>
              </a:rPr>
              <a:t>Wait states pause the execution every 30s (demo) / 24h (production) — zero compute cost while waiting.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172200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C8880"/>
                </a:solidFill>
              </a:rPr>
              <a:t>If a stage is incomplete after 3 reminders → marked Overdue → workflow fails gracefully.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EXECUTION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Live Execution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Real AWS Step Functions execution — Arjun Sharma · EMP-4FEA92A3 · 2026-04-08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402336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✓  SUCCEEDED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Duration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66 seconds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Stages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4 / 4 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18470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C8880"/>
                </a:solidFill>
              </a:rPr>
              <a:t>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0116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15:11 – 15:12 IST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95728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4871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15:11:53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2560320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74519" y="24871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7C6B"/>
                </a:solidFill>
              </a:rPr>
              <a:t>DocumentCollection entered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48716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1 starts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9077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15:11:54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19072" y="2980944"/>
            <a:ext cx="54864" cy="54864"/>
          </a:xfrm>
          <a:prstGeom prst="rect">
            <a:avLst/>
          </a:prstGeom>
          <a:solidFill>
            <a:srgbClr val="8C8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74519" y="29077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WaitForDocuments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290779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30-second wait — documents uploading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236976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32841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19072" y="3401568"/>
            <a:ext cx="54864" cy="54864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74519" y="33284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7C6B"/>
                </a:solidFill>
              </a:rPr>
              <a:t>DocumentCollection  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332841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All 3 documents received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7490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19072" y="3822192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74519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7B2E"/>
                </a:solidFill>
              </a:rPr>
              <a:t>ITProvisioning entered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60" y="374904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2 — Cognito user creation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078224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16966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19072" y="4242816"/>
            <a:ext cx="54864" cy="54864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74519" y="41696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7B2E"/>
                </a:solidFill>
              </a:rPr>
              <a:t>ITProvisioning  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416966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Cognito account created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459028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19072" y="4663440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74519" y="45902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6B9E"/>
                </a:solidFill>
              </a:rPr>
              <a:t>PolicySignoff entered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66360" y="459028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3 — checks signed_at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19472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50109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15:12:27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19072" y="5084064"/>
            <a:ext cx="54864" cy="54864"/>
          </a:xfrm>
          <a:prstGeom prst="rect">
            <a:avLst/>
          </a:prstGeom>
          <a:solidFill>
            <a:srgbClr val="8C8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74519" y="50109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WaitForPolicySignoff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66360" y="501091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30-second wait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54315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15:12:58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19072" y="5504688"/>
            <a:ext cx="54864" cy="54864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74519" y="54315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D6B9E"/>
                </a:solidFill>
              </a:rPr>
              <a:t>PolicySignoff  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6360" y="5431536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All 5 policies signed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760720"/>
            <a:ext cx="11155680" cy="42062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" y="58521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15:12:58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719072" y="5925312"/>
            <a:ext cx="54864" cy="54864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74519" y="5852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25042"/>
                </a:solidFill>
              </a:rPr>
              <a:t>ManagerIntro entered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66360" y="585216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Stage 4 — intro emails dispatched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6272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15:12:59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19072" y="6345936"/>
            <a:ext cx="54864" cy="54864"/>
          </a:xfrm>
          <a:prstGeom prst="rect">
            <a:avLst/>
          </a:prstGeom>
          <a:solidFill>
            <a:srgbClr val="2E5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74519" y="62727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5A4D"/>
                </a:solidFill>
              </a:rPr>
              <a:t>OnboardingComplete  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66360" y="6272784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EXECUTION SUCCEEDED — status → ACTIVE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651052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662025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8C8880"/>
                </a:solidFill>
              </a:rPr>
              <a:t>Open AWS Console → Step Functions → hrms-onboarding-workflow → Executions to see the visual graph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DEMO  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Part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New Hire Experience · follow these steps exactly during the presentation.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310896"/>
          </a:xfrm>
          <a:prstGeom prst="rect">
            <a:avLst/>
          </a:prstGeom>
          <a:solidFill>
            <a:srgbClr val="EBF3E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E5A4D"/>
                </a:solidFill>
              </a:rPr>
              <a:t>App URL:  hrms-onboarding-frontend-dev.s3-website.ap-south-1.amazonaws.com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26771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Open the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5054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Navigate to the URL above → splash animation plays → landing page shows two cards.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8950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Enter New Hire Portal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1272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'New Hire Portal' → another splash → Step 1 of 5 appears.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51129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Fill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749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First: Priya  ·  Last: Menon  ·  Email: priya.menon@example.com  ·  Dept: Engineering  ·  Role: Frontend Engineer  →  Continue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A4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3308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Upload Documents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7083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each of the 3 cards → upload any PDF → green Uploaded badge appears on each → Continue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A5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754880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Sign 5 Policies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Check all 5 boxes one by one — watch the progress bar fill to 100% → Continue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A6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37667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Manager Intro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1441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Type a note (optional): 'What does the first week look like?' → Submit &amp; Complete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A7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99846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Completion Screen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23620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Completion screen shows all stage badges. Click '← Back to Home'.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FD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DEMO  B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Part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HR Admin Dashboard · PIN-gated · real-time pipeline 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10512"/>
            <a:ext cx="11155680" cy="310896"/>
          </a:xfrm>
          <a:prstGeom prst="rect">
            <a:avLst/>
          </a:prstGeom>
          <a:solidFill>
            <a:srgbClr val="FDF3E5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7B2E"/>
                </a:solidFill>
              </a:rPr>
              <a:t>HR PIN:  1234   (auto-unlocks on the 4th digit — no Enter needed · resets every navigation)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677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B1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26771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Open HR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50545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From landing page click 'HR Admin Dashboard' → splash → PIN gate appears.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solidFill>
            <a:srgbClr val="FDF3E5"/>
          </a:solidFill>
          <a:ln w="12700">
            <a:solidFill>
              <a:srgbClr val="C97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8950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7B2E"/>
                </a:solidFill>
              </a:rPr>
              <a:t>B2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8950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Enter PIN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1272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Type 1-2-3-4 — on the 4th digit the screen fades out automatically. Dashboard fades 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511296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B3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51129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Stats Bar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749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5 metric cards at top: Total · In Progress · Completed · Docs Pending · Avg Completion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13308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B4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3308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Search for Your Hire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7083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Type 'Priya' in the search bar → table filters live to show Priya Menon's row.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75488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B5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754880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Expand Detail Panel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the row → panel slides open: 4 stages with timestamps + 3 document upload badges.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37667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B6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37667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Refresh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61441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Click Refresh button (top right) → spinner → data reloads from live API.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solidFill>
            <a:srgbClr val="EBF1F8"/>
          </a:solidFill>
          <a:ln w="12700">
            <a:solidFill>
              <a:srgbClr val="3D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99846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B7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99846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C1A17"/>
                </a:solidFill>
              </a:rPr>
              <a:t>Status Filters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23620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Use filter pills: All · In Progress · Completed · Pending — each filters the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D6B9E"/>
                </a:solidFill>
              </a:rPr>
              <a:t>DEMO  C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Demo Walkthrough — Part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Console evidence — show evaluators the live backend.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74519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36576" cy="841248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874519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920239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6B"/>
                </a:solidFill>
              </a:rPr>
              <a:t>C1  ·  Step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203703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AWS Console → Step Functions → hrms-onboarding-workflow → Executions tab
Click latest SUCCEEDED → Graph view (all states green) → Events tab (full timeline)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07207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807207"/>
            <a:ext cx="36576" cy="8412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807207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52927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C2  ·  DynamoDB — Employees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136391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DynamoDB → hrms-employees → Explore items → find your employee
Show: status = ACTIVE · cognito_user_id populated · all fields correct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39895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39895"/>
            <a:ext cx="36576" cy="841248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39895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785615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6B9E"/>
                </a:solidFill>
              </a:rPr>
              <a:t>C3  ·  DynamoDB — Stages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069079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DynamoDB → hrms-onboarding-stages → filter by workflow_id
Show: all 4 rows with status = COMPLETE and completed_at timestamps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672583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672583"/>
            <a:ext cx="36576" cy="8412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672583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18303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C4  ·  S3 —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001767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S3 → hrms-onboarding-documents-736786104206-dev → documents/{employee_id}/
Show: 3 uploaded files — ID_PROOF · DEGREE_CERTIFICATE · OFFER_LETTER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605271"/>
            <a:ext cx="1115568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605271"/>
            <a:ext cx="36576" cy="841248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605271"/>
            <a:ext cx="11155680" cy="292608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50991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7B2E"/>
                </a:solidFill>
              </a:rPr>
              <a:t>C5  ·  S3 — Encryption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934455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C5852"/>
                </a:solidFill>
              </a:rPr>
              <a:t>S3 bucket → Properties → Default encryption → AES-256 server-side encryption enabled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92608"/>
            <a:ext cx="274320" cy="27432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3270" y="352958"/>
            <a:ext cx="153619" cy="153619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246888"/>
            <a:ext cx="1170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A7C6B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836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1A17"/>
                </a:solidFill>
              </a:rPr>
              <a:t>Cost Estimate — 50 Hires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C5852"/>
                </a:solidFill>
              </a:rPr>
              <a:t>AWS ap-south-1 pricing · April 2026 · all major services within free tier at this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64208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11155680" cy="329184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Monthly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8836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5852"/>
                </a:solidFill>
              </a:rPr>
              <a:t>Pricing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57984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157984"/>
            <a:ext cx="36576" cy="4937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2677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Lambda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2677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750 invocations/mo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2677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2677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Covered by 1M free tier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51760"/>
            <a:ext cx="36576" cy="493776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7614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2761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1,650 transitions/mo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7614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761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First 4,000 free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145536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145536"/>
            <a:ext cx="36576" cy="493776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2552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3255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~6,500 reads + writes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2552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255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25GB always-free tier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39312"/>
            <a:ext cx="36576" cy="493776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749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75MB · 150 PUTs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749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7"/>
                </a:solidFill>
              </a:rPr>
              <a:t>$0.004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749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$0.023/GB storage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133088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133088"/>
            <a:ext cx="36576" cy="4937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24281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42428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400 emails/mo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24281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7"/>
                </a:solidFill>
              </a:rPr>
              <a:t>$0.04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2428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$0.10 per 1,000 emails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26864"/>
            <a:ext cx="36576" cy="493776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7365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34640" y="47365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50 MAUs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47365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7365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First 50,000 MAU free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120640"/>
            <a:ext cx="111556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5120640"/>
            <a:ext cx="36576" cy="493776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2303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4640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50 notifications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230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$0.00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First 1M free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614416"/>
            <a:ext cx="36576" cy="493776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57241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34640" y="57241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5852"/>
                </a:solidFill>
              </a:rPr>
              <a:t>~200 requests/mo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57241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A17"/>
                </a:solidFill>
              </a:rPr>
              <a:t>$0.001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57241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C8880"/>
                </a:solidFill>
              </a:rPr>
              <a:t>$3.50 per million requests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6163056"/>
            <a:ext cx="11155680" cy="457200"/>
          </a:xfrm>
          <a:prstGeom prst="rect">
            <a:avLst/>
          </a:prstGeom>
          <a:solidFill>
            <a:srgbClr val="EBF3EF"/>
          </a:solidFill>
          <a:ln w="12700">
            <a:solidFill>
              <a:srgbClr val="4A7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623620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A4D"/>
                </a:solidFill>
              </a:rPr>
              <a:t>Total monthly cost: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0" y="623620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A4D"/>
                </a:solidFill>
              </a:rPr>
              <a:t>~$0.05 / month  (≈ ₹4)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627278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C8880"/>
                </a:solidFill>
              </a:rPr>
              <a:t>Scales to 5,000 hires/month for ~$5.00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EF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45920"/>
            <a:ext cx="548640" cy="548640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5060" y="1766620"/>
            <a:ext cx="307238" cy="307238"/>
          </a:xfrm>
          <a:prstGeom prst="rect">
            <a:avLst/>
          </a:prstGeom>
          <a:solidFill>
            <a:srgbClr val="EB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872" y="1645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C1A17"/>
                </a:solidFill>
              </a:rPr>
              <a:t>OnboardIQ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1C1A17"/>
                </a:solidFill>
              </a:rPr>
              <a:t>From offer letter
to Day 1 login.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931920"/>
            <a:ext cx="1280160" cy="36576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1605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C5852"/>
                </a:solidFill>
              </a:rPr>
              <a:t>Fully automated. Fully serverless. Built on AWS.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46320"/>
            <a:ext cx="11155680" cy="12700"/>
          </a:xfrm>
          <a:prstGeom prst="rect">
            <a:avLst/>
          </a:prstGeom>
          <a:solidFill>
            <a:srgbClr val="E8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0749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Live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07492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hrms-onboarding-frontend-dev.s3-website.ap-south-1.amazonaws.com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45896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HR PIN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54589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1234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43016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58430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ap-south-1  ·  Mumbai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22706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C8880"/>
                </a:solidFill>
              </a:rPr>
              <a:t>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622706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</a:rPr>
              <a:t>github.com/adil-khan-723/onboardiq-hrms-F13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0080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C8880"/>
                </a:solidFill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6459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C8880"/>
                </a:solidFill>
              </a:rPr>
              <a:t>Built with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057400"/>
            <a:ext cx="3291840" cy="347472"/>
          </a:xfrm>
          <a:prstGeom prst="rect">
            <a:avLst/>
          </a:prstGeom>
          <a:solidFill>
            <a:srgbClr val="FDF3E5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057400"/>
            <a:ext cx="36576" cy="34747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212140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AWS Lambda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532888"/>
            <a:ext cx="3291840" cy="347472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2532888"/>
            <a:ext cx="36576" cy="34747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4192" y="259689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Step Functions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008376"/>
            <a:ext cx="3291840" cy="347472"/>
          </a:xfrm>
          <a:prstGeom prst="rect">
            <a:avLst/>
          </a:prstGeom>
          <a:solidFill>
            <a:srgbClr val="EBF1F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008376"/>
            <a:ext cx="36576" cy="34747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94192" y="307238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DynamoDB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483864"/>
            <a:ext cx="3291840" cy="347472"/>
          </a:xfrm>
          <a:prstGeom prst="rect">
            <a:avLst/>
          </a:prstGeom>
          <a:solidFill>
            <a:srgbClr val="EBF3EF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3483864"/>
            <a:ext cx="36576" cy="34747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94192" y="35478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S3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959352"/>
            <a:ext cx="3291840" cy="347472"/>
          </a:xfrm>
          <a:prstGeom prst="rect">
            <a:avLst/>
          </a:prstGeom>
          <a:solidFill>
            <a:srgbClr val="FBF0EE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0" y="3959352"/>
            <a:ext cx="36576" cy="347472"/>
          </a:xfrm>
          <a:prstGeom prst="rect">
            <a:avLst/>
          </a:prstGeom>
          <a:solidFill>
            <a:srgbClr val="C2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94192" y="402336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25042"/>
                </a:solidFill>
              </a:rPr>
              <a:t>Cognito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434840"/>
            <a:ext cx="3291840" cy="347472"/>
          </a:xfrm>
          <a:prstGeom prst="rect">
            <a:avLst/>
          </a:prstGeom>
          <a:solidFill>
            <a:srgbClr val="FDF3E5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4434840"/>
            <a:ext cx="36576" cy="347472"/>
          </a:xfrm>
          <a:prstGeom prst="rect">
            <a:avLst/>
          </a:prstGeom>
          <a:solidFill>
            <a:srgbClr val="C97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94192" y="449884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97B2E"/>
                </a:solidFill>
              </a:rPr>
              <a:t>SES  ·  SNS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4910328"/>
            <a:ext cx="3291840" cy="347472"/>
          </a:xfrm>
          <a:prstGeom prst="rect">
            <a:avLst/>
          </a:prstGeom>
          <a:solidFill>
            <a:srgbClr val="EBF1F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4910328"/>
            <a:ext cx="36576" cy="347472"/>
          </a:xfrm>
          <a:prstGeom prst="rect">
            <a:avLst/>
          </a:prstGeom>
          <a:solidFill>
            <a:srgbClr val="3D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192" y="497433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D6B9E"/>
                </a:solidFill>
              </a:rPr>
              <a:t>API Gateway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5385816"/>
            <a:ext cx="3291840" cy="347472"/>
          </a:xfrm>
          <a:prstGeom prst="rect">
            <a:avLst/>
          </a:prstGeom>
          <a:solidFill>
            <a:srgbClr val="EBF3EF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5385816"/>
            <a:ext cx="36576" cy="347472"/>
          </a:xfrm>
          <a:prstGeom prst="rect">
            <a:avLst/>
          </a:prstGeom>
          <a:solidFill>
            <a:srgbClr val="4A7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94192" y="54498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7C6B"/>
                </a:solidFill>
              </a:rPr>
              <a:t>React 18 + Vite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5861304"/>
            <a:ext cx="3291840" cy="347472"/>
          </a:xfrm>
          <a:prstGeom prst="rect">
            <a:avLst/>
          </a:prstGeom>
          <a:solidFill>
            <a:srgbClr val="EFEDE8"/>
          </a:solidFill>
          <a:ln w="6350">
            <a:solidFill>
              <a:srgbClr val="E8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0" y="5861304"/>
            <a:ext cx="36576" cy="347472"/>
          </a:xfrm>
          <a:prstGeom prst="rect">
            <a:avLst/>
          </a:prstGeom>
          <a:solidFill>
            <a:srgbClr val="5C5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192" y="59253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5C5852"/>
                </a:solidFill>
              </a:rPr>
              <a:t>AWS SAM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